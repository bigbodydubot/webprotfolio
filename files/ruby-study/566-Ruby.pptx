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Calibri" panose="020F0502020204030204" pitchFamily="34" charset="0"/>
      <p:regular r:id="rId14"/>
      <p:bold r:id="rId15"/>
      <p:italic r:id="rId16"/>
      <p:boldItalic r:id="rId17"/>
    </p:embeddedFont>
    <p:embeddedFont>
      <p:font typeface="Inter Semi-Bold" panose="020B0604020202020204" charset="0"/>
      <p:regular r:id="rId18"/>
    </p:embeddedFont>
    <p:embeddedFont>
      <p:font typeface="Oswald Bold" panose="020B0604020202020204" charset="0"/>
      <p:regular r:id="rId19"/>
    </p:embeddedFont>
    <p:embeddedFont>
      <p:font typeface="Inter Bold" panose="020B0604020202020204" charset="0"/>
      <p:regular r:id="rId20"/>
    </p:embeddedFont>
    <p:embeddedFont>
      <p:font typeface="Inter"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0221" autoAdjust="0"/>
  </p:normalViewPr>
  <p:slideViewPr>
    <p:cSldViewPr>
      <p:cViewPr varScale="1">
        <p:scale>
          <a:sx n="41" d="100"/>
          <a:sy n="41" d="100"/>
        </p:scale>
        <p:origin x="97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23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36CCFD-0448-4548-B97F-66891E6B75C3}" type="datetimeFigureOut">
              <a:rPr lang="en-US" smtClean="0"/>
              <a:t>4/14/2026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5FEEF6-B8C4-4096-BAEF-22E61FBC90E4}" type="slidenum">
              <a:rPr lang="en-US" smtClean="0"/>
              <a:t>‹#›</a:t>
            </a:fld>
            <a:endParaRPr lang="en-US"/>
          </a:p>
        </p:txBody>
      </p:sp>
    </p:spTree>
    <p:extLst>
      <p:ext uri="{BB962C8B-B14F-4D97-AF65-F5344CB8AC3E}">
        <p14:creationId xmlns:p14="http://schemas.microsoft.com/office/powerpoint/2010/main" val="1333109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This presentation examines Ruby not only as a programming language but also as a design philosophy. Ruby was created to make coding more readable, enjoyable, and productive for developers. My main argument is that Ruby still has value today, especially in contexts where development speed, maintainability, and code clarity are more important than raw execution speed. So, rather than asking whether Ruby dominates the industry, this presentation asks where Ruby remains strategically useful in modern software development.</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1</a:t>
            </a:fld>
            <a:endParaRPr lang="en-US"/>
          </a:p>
        </p:txBody>
      </p:sp>
    </p:spTree>
    <p:extLst>
      <p:ext uri="{BB962C8B-B14F-4D97-AF65-F5344CB8AC3E}">
        <p14:creationId xmlns:p14="http://schemas.microsoft.com/office/powerpoint/2010/main" val="6846542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 was developed by Yukihiro Matsumoto in the mid-1990s with the goal of making programming more human-friendly. This was significant because many earlier languages focused mainly on machine efficiency. Ruby shifted attention toward programmer experience, simplicity, and flexibility. Its popularity increased greatly with Ruby on Rails, which made web development faster and easier. Historically, Ruby represents a broader change in software engineering, where developer productivity began to matter more than low-level hardware </a:t>
            </a:r>
            <a:r>
              <a:rPr lang="en-US" sz="1200" kern="1200" dirty="0" err="1" smtClean="0">
                <a:solidFill>
                  <a:schemeClr val="tx1"/>
                </a:solidFill>
                <a:effectLst/>
                <a:latin typeface="+mn-lt"/>
                <a:ea typeface="+mn-ea"/>
                <a:cs typeface="+mn-cs"/>
              </a:rPr>
              <a:t>optimisation</a:t>
            </a:r>
            <a:r>
              <a:rPr lang="en-US" sz="1200" kern="1200" dirty="0" smtClean="0">
                <a:solidFill>
                  <a:schemeClr val="tx1"/>
                </a:solidFill>
                <a:effectLst/>
                <a:latin typeface="+mn-lt"/>
                <a:ea typeface="+mn-ea"/>
                <a:cs typeface="+mn-cs"/>
              </a:rPr>
              <a:t> in many practical environments.</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2</a:t>
            </a:fld>
            <a:endParaRPr lang="en-US"/>
          </a:p>
        </p:txBody>
      </p:sp>
    </p:spTree>
    <p:extLst>
      <p:ext uri="{BB962C8B-B14F-4D97-AF65-F5344CB8AC3E}">
        <p14:creationId xmlns:p14="http://schemas.microsoft.com/office/powerpoint/2010/main" val="1095848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Ruby’s core philosophy is centered on readable and expressive code. This matters because code is not only written for machines but also for people who must read, maintain, and improve it over time. A language that reduces cognitive load can support teamwork and long-term project sustainability. However, this design choice comes with trade-offs. The elegance and flexibility of Ruby can sometimes reduce performance. So, Ruby’s philosophy is powerful, but it also requires developers to accept a balance between productivity and execution efficiency.</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3</a:t>
            </a:fld>
            <a:endParaRPr lang="en-US"/>
          </a:p>
        </p:txBody>
      </p:sp>
    </p:spTree>
    <p:extLst>
      <p:ext uri="{BB962C8B-B14F-4D97-AF65-F5344CB8AC3E}">
        <p14:creationId xmlns:p14="http://schemas.microsoft.com/office/powerpoint/2010/main" val="1927334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 is a pure object-oriented language, which means everything is treated as an object. This gives the language conceptual consistency and makes it easier to learn and use in a structured way. Another important feature is dynamic typing, which allows developers to prototype quickly and adapt to changing requirements. Ruby also includes blocks, iterators, and metaprogramming, which make the language concise and expressive. These features support fast development, but they can also introduce complexity if projects grow large without careful engineering control.</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4</a:t>
            </a:fld>
            <a:endParaRPr lang="en-US"/>
          </a:p>
        </p:txBody>
      </p:sp>
    </p:spTree>
    <p:extLst>
      <p:ext uri="{BB962C8B-B14F-4D97-AF65-F5344CB8AC3E}">
        <p14:creationId xmlns:p14="http://schemas.microsoft.com/office/powerpoint/2010/main" val="4141691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 had its strongest practical impact through Ruby on Rails. Rails transformed web development by promoting the idea of convention over configuration. This means developers can spend less time on setup and more time building real business functionality. That is why Ruby became especially popular in startups, MVP development, and prototype-driven businesses. In such environments, speed to market is often more valuable than perfect performance. So, Ruby’s success in web development came from helping </a:t>
            </a:r>
            <a:r>
              <a:rPr lang="en-US" sz="1200" kern="1200" dirty="0" err="1" smtClean="0">
                <a:solidFill>
                  <a:schemeClr val="tx1"/>
                </a:solidFill>
                <a:effectLst/>
                <a:latin typeface="+mn-lt"/>
                <a:ea typeface="+mn-ea"/>
                <a:cs typeface="+mn-cs"/>
              </a:rPr>
              <a:t>organisations</a:t>
            </a:r>
            <a:r>
              <a:rPr lang="en-US" sz="1200" kern="1200" dirty="0" smtClean="0">
                <a:solidFill>
                  <a:schemeClr val="tx1"/>
                </a:solidFill>
                <a:effectLst/>
                <a:latin typeface="+mn-lt"/>
                <a:ea typeface="+mn-ea"/>
                <a:cs typeface="+mn-cs"/>
              </a:rPr>
              <a:t> build and launch products faster and with less development friction.</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5</a:t>
            </a:fld>
            <a:endParaRPr lang="en-US"/>
          </a:p>
        </p:txBody>
      </p:sp>
    </p:spTree>
    <p:extLst>
      <p:ext uri="{BB962C8B-B14F-4D97-AF65-F5344CB8AC3E}">
        <p14:creationId xmlns:p14="http://schemas.microsoft.com/office/powerpoint/2010/main" val="41259983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Ruby’s biggest strength is productivity. Developers can often achieve more with fewer lines of code, which saves time and effort. Its readable syntax also reduces maintenance costs and helps new team members understand projects more quickly. This is especially valuable in long-term </a:t>
            </a:r>
            <a:r>
              <a:rPr lang="en-US" sz="1200" kern="1200" dirty="0" err="1" smtClean="0">
                <a:solidFill>
                  <a:schemeClr val="tx1"/>
                </a:solidFill>
                <a:effectLst/>
                <a:latin typeface="+mn-lt"/>
                <a:ea typeface="+mn-ea"/>
                <a:cs typeface="+mn-cs"/>
              </a:rPr>
              <a:t>organisational</a:t>
            </a:r>
            <a:r>
              <a:rPr lang="en-US" sz="1200" kern="1200" dirty="0" smtClean="0">
                <a:solidFill>
                  <a:schemeClr val="tx1"/>
                </a:solidFill>
                <a:effectLst/>
                <a:latin typeface="+mn-lt"/>
                <a:ea typeface="+mn-ea"/>
                <a:cs typeface="+mn-cs"/>
              </a:rPr>
              <a:t> settings where collaboration matters. In addition, the Ruby ecosystem continues to evolve, showing that the language is not completely outdated. Strategically, Ruby remains valuable where experienced teams can use its flexibility and clarity to create efficient development workflows and maintainable business applications.</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6</a:t>
            </a:fld>
            <a:endParaRPr lang="en-US"/>
          </a:p>
        </p:txBody>
      </p:sp>
    </p:spTree>
    <p:extLst>
      <p:ext uri="{BB962C8B-B14F-4D97-AF65-F5344CB8AC3E}">
        <p14:creationId xmlns:p14="http://schemas.microsoft.com/office/powerpoint/2010/main" val="10314167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Despite its strengths, Ruby has important limitations. The most common criticism is performance, especially in applications that must handle very high scale or very low latency. In those situations, Ruby may not compete as well with faster languages or frameworks. Dynamic typing is another weakness because it can increase runtime errors and make debugging more difficult in large systems. This means Ruby works best when development teams are disciplined. Without strong software engineering practices, the same flexibility that makes Ruby powerful can also create technical and </a:t>
            </a:r>
            <a:r>
              <a:rPr lang="en-US" sz="1200" kern="1200" dirty="0" err="1" smtClean="0">
                <a:solidFill>
                  <a:schemeClr val="tx1"/>
                </a:solidFill>
                <a:effectLst/>
                <a:latin typeface="+mn-lt"/>
                <a:ea typeface="+mn-ea"/>
                <a:cs typeface="+mn-cs"/>
              </a:rPr>
              <a:t>organisational</a:t>
            </a:r>
            <a:r>
              <a:rPr lang="en-US" sz="1200" kern="1200" dirty="0" smtClean="0">
                <a:solidFill>
                  <a:schemeClr val="tx1"/>
                </a:solidFill>
                <a:effectLst/>
                <a:latin typeface="+mn-lt"/>
                <a:ea typeface="+mn-ea"/>
                <a:cs typeface="+mn-cs"/>
              </a:rPr>
              <a:t> problems.</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7</a:t>
            </a:fld>
            <a:endParaRPr lang="en-US"/>
          </a:p>
        </p:txBody>
      </p:sp>
    </p:spTree>
    <p:extLst>
      <p:ext uri="{BB962C8B-B14F-4D97-AF65-F5344CB8AC3E}">
        <p14:creationId xmlns:p14="http://schemas.microsoft.com/office/powerpoint/2010/main" val="515306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When compared with Python, Ruby is highly expressive and elegant, but Python currently has stronger positions in AI, data science, and education. Compared with JavaScript, Ruby is more </a:t>
            </a:r>
            <a:r>
              <a:rPr lang="en-US" sz="1200" kern="1200" dirty="0" err="1" smtClean="0">
                <a:solidFill>
                  <a:schemeClr val="tx1"/>
                </a:solidFill>
                <a:effectLst/>
                <a:latin typeface="+mn-lt"/>
                <a:ea typeface="+mn-ea"/>
                <a:cs typeface="+mn-cs"/>
              </a:rPr>
              <a:t>specialised</a:t>
            </a:r>
            <a:r>
              <a:rPr lang="en-US" sz="1200" kern="1200" dirty="0" smtClean="0">
                <a:solidFill>
                  <a:schemeClr val="tx1"/>
                </a:solidFill>
                <a:effectLst/>
                <a:latin typeface="+mn-lt"/>
                <a:ea typeface="+mn-ea"/>
                <a:cs typeface="+mn-cs"/>
              </a:rPr>
              <a:t>, while JavaScript benefits from full-stack use and a much larger ecosystem. This comparison shows that Ruby is not necessarily a weak language, but it is less strategically positioned in today’s software market. The issue is not only technical quality. It is also about ecosystem strength, community momentum, tooling support, and how well a language fits current industry demand.</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8</a:t>
            </a:fld>
            <a:endParaRPr lang="en-US"/>
          </a:p>
        </p:txBody>
      </p:sp>
    </p:spTree>
    <p:extLst>
      <p:ext uri="{BB962C8B-B14F-4D97-AF65-F5344CB8AC3E}">
        <p14:creationId xmlns:p14="http://schemas.microsoft.com/office/powerpoint/2010/main" val="20926142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Ruby is less visible today than some newer or more scalable languages, and this decline in visibility is clear in industry discussions. However, lower popularity does not mean zero relevance. Ruby is still actively used in production, especially in </a:t>
            </a:r>
            <a:r>
              <a:rPr lang="en-US" sz="1200" kern="1200" dirty="0" err="1" smtClean="0">
                <a:solidFill>
                  <a:schemeClr val="tx1"/>
                </a:solidFill>
                <a:effectLst/>
                <a:latin typeface="+mn-lt"/>
                <a:ea typeface="+mn-ea"/>
                <a:cs typeface="+mn-cs"/>
              </a:rPr>
              <a:t>organisations</a:t>
            </a:r>
            <a:r>
              <a:rPr lang="en-US" sz="1200" kern="1200" dirty="0" smtClean="0">
                <a:solidFill>
                  <a:schemeClr val="tx1"/>
                </a:solidFill>
                <a:effectLst/>
                <a:latin typeface="+mn-lt"/>
                <a:ea typeface="+mn-ea"/>
                <a:cs typeface="+mn-cs"/>
              </a:rPr>
              <a:t> that already depend on Rails applications. The key point here is that usefulness should be judged by contextual fit, not by trends alone. A language does not need to dominate the market to remain valuable. Ruby still has relevance where its strengths align with </a:t>
            </a:r>
            <a:r>
              <a:rPr lang="en-US" sz="1200" kern="1200" dirty="0" err="1" smtClean="0">
                <a:solidFill>
                  <a:schemeClr val="tx1"/>
                </a:solidFill>
                <a:effectLst/>
                <a:latin typeface="+mn-lt"/>
                <a:ea typeface="+mn-ea"/>
                <a:cs typeface="+mn-cs"/>
              </a:rPr>
              <a:t>organisational</a:t>
            </a:r>
            <a:r>
              <a:rPr lang="en-US" sz="1200" kern="1200" dirty="0" smtClean="0">
                <a:solidFill>
                  <a:schemeClr val="tx1"/>
                </a:solidFill>
                <a:effectLst/>
                <a:latin typeface="+mn-lt"/>
                <a:ea typeface="+mn-ea"/>
                <a:cs typeface="+mn-cs"/>
              </a:rPr>
              <a:t> and project needs.</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9</a:t>
            </a:fld>
            <a:endParaRPr lang="en-US"/>
          </a:p>
        </p:txBody>
      </p:sp>
    </p:spTree>
    <p:extLst>
      <p:ext uri="{BB962C8B-B14F-4D97-AF65-F5344CB8AC3E}">
        <p14:creationId xmlns:p14="http://schemas.microsoft.com/office/powerpoint/2010/main" val="1102328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My position is that Ruby is contextually strong rather than universally superior. It performs especially well in situations requiring readable code, rapid prototyping, and efficient development processes. However, it is less suitable for highly data-intensive or performance-sensitive systems. Ruby’s lasting contribution is not only technical but also philosophical. It changed how developers think about programmer happiness, readability, and productivity. Even where Ruby is no longer dominant, its influence continues to shape modern programming languages and development tools in meaningful and lasting ways.</a:t>
            </a:r>
          </a:p>
          <a:p>
            <a:endParaRPr lang="en-US" dirty="0"/>
          </a:p>
        </p:txBody>
      </p:sp>
      <p:sp>
        <p:nvSpPr>
          <p:cNvPr id="4" name="Slide Number Placeholder 3"/>
          <p:cNvSpPr>
            <a:spLocks noGrp="1"/>
          </p:cNvSpPr>
          <p:nvPr>
            <p:ph type="sldNum" sz="quarter" idx="10"/>
          </p:nvPr>
        </p:nvSpPr>
        <p:spPr/>
        <p:txBody>
          <a:bodyPr/>
          <a:lstStyle/>
          <a:p>
            <a:fld id="{6E5FEEF6-B8C4-4096-BAEF-22E61FBC90E4}" type="slidenum">
              <a:rPr lang="en-US" smtClean="0"/>
              <a:t>10</a:t>
            </a:fld>
            <a:endParaRPr lang="en-US"/>
          </a:p>
        </p:txBody>
      </p:sp>
    </p:spTree>
    <p:extLst>
      <p:ext uri="{BB962C8B-B14F-4D97-AF65-F5344CB8AC3E}">
        <p14:creationId xmlns:p14="http://schemas.microsoft.com/office/powerpoint/2010/main" val="94505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jpeg"/><Relationship Id="rId10" Type="http://schemas.openxmlformats.org/officeDocument/2006/relationships/image" Target="../media/image9.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5.png"/><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12.png"/><Relationship Id="rId18" Type="http://schemas.openxmlformats.org/officeDocument/2006/relationships/image" Target="../media/image29.svg"/><Relationship Id="rId26" Type="http://schemas.openxmlformats.org/officeDocument/2006/relationships/image" Target="../media/image37.svg"/><Relationship Id="rId3" Type="http://schemas.openxmlformats.org/officeDocument/2006/relationships/image" Target="../media/image7.png"/><Relationship Id="rId21" Type="http://schemas.openxmlformats.org/officeDocument/2006/relationships/image" Target="../media/image16.png"/><Relationship Id="rId12" Type="http://schemas.openxmlformats.org/officeDocument/2006/relationships/image" Target="../media/image23.svg"/><Relationship Id="rId17" Type="http://schemas.openxmlformats.org/officeDocument/2006/relationships/image" Target="../media/image14.png"/><Relationship Id="rId25" Type="http://schemas.openxmlformats.org/officeDocument/2006/relationships/image" Target="../media/image18.png"/><Relationship Id="rId2" Type="http://schemas.openxmlformats.org/officeDocument/2006/relationships/notesSlide" Target="../notesSlides/notesSlide3.xml"/><Relationship Id="rId16" Type="http://schemas.openxmlformats.org/officeDocument/2006/relationships/image" Target="../media/image27.svg"/><Relationship Id="rId20" Type="http://schemas.openxmlformats.org/officeDocument/2006/relationships/image" Target="../media/image31.svg"/><Relationship Id="rId29"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1.png"/><Relationship Id="rId24" Type="http://schemas.openxmlformats.org/officeDocument/2006/relationships/image" Target="../media/image35.svg"/><Relationship Id="rId5" Type="http://schemas.openxmlformats.org/officeDocument/2006/relationships/image" Target="../media/image8.jpeg"/><Relationship Id="rId15" Type="http://schemas.openxmlformats.org/officeDocument/2006/relationships/image" Target="../media/image13.png"/><Relationship Id="rId23" Type="http://schemas.openxmlformats.org/officeDocument/2006/relationships/image" Target="../media/image17.png"/><Relationship Id="rId28" Type="http://schemas.openxmlformats.org/officeDocument/2006/relationships/image" Target="../media/image39.svg"/><Relationship Id="rId10" Type="http://schemas.openxmlformats.org/officeDocument/2006/relationships/image" Target="../media/image21.svg"/><Relationship Id="rId19" Type="http://schemas.openxmlformats.org/officeDocument/2006/relationships/image" Target="../media/image15.png"/><Relationship Id="rId4" Type="http://schemas.openxmlformats.org/officeDocument/2006/relationships/image" Target="../media/image14.svg"/><Relationship Id="rId9" Type="http://schemas.openxmlformats.org/officeDocument/2006/relationships/image" Target="../media/image10.png"/><Relationship Id="rId14" Type="http://schemas.openxmlformats.org/officeDocument/2006/relationships/image" Target="../media/image25.svg"/><Relationship Id="rId22" Type="http://schemas.openxmlformats.org/officeDocument/2006/relationships/image" Target="../media/image33.svg"/><Relationship Id="rId27" Type="http://schemas.openxmlformats.org/officeDocument/2006/relationships/image" Target="../media/image19.png"/><Relationship Id="rId30" Type="http://schemas.openxmlformats.org/officeDocument/2006/relationships/image" Target="../media/image41.svg"/></Relationships>
</file>

<file path=ppt/slides/_rels/slide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50.svg"/><Relationship Id="rId18" Type="http://schemas.openxmlformats.org/officeDocument/2006/relationships/image" Target="../media/image28.png"/><Relationship Id="rId26" Type="http://schemas.openxmlformats.org/officeDocument/2006/relationships/image" Target="../media/image32.png"/><Relationship Id="rId3" Type="http://schemas.openxmlformats.org/officeDocument/2006/relationships/image" Target="../media/image1.png"/><Relationship Id="rId21" Type="http://schemas.openxmlformats.org/officeDocument/2006/relationships/image" Target="../media/image58.svg"/><Relationship Id="rId7" Type="http://schemas.openxmlformats.org/officeDocument/2006/relationships/image" Target="../media/image44.svg"/><Relationship Id="rId12" Type="http://schemas.openxmlformats.org/officeDocument/2006/relationships/image" Target="../media/image25.png"/><Relationship Id="rId17" Type="http://schemas.openxmlformats.org/officeDocument/2006/relationships/image" Target="../media/image54.svg"/><Relationship Id="rId25" Type="http://schemas.openxmlformats.org/officeDocument/2006/relationships/image" Target="../media/image62.svg"/><Relationship Id="rId2" Type="http://schemas.openxmlformats.org/officeDocument/2006/relationships/notesSlide" Target="../notesSlides/notesSlide4.xml"/><Relationship Id="rId16" Type="http://schemas.openxmlformats.org/officeDocument/2006/relationships/image" Target="../media/image27.png"/><Relationship Id="rId20" Type="http://schemas.openxmlformats.org/officeDocument/2006/relationships/image" Target="../media/image29.png"/><Relationship Id="rId29" Type="http://schemas.openxmlformats.org/officeDocument/2006/relationships/image" Target="../media/image66.svg"/><Relationship Id="rId1" Type="http://schemas.openxmlformats.org/officeDocument/2006/relationships/slideLayout" Target="../slideLayouts/slideLayout7.xml"/><Relationship Id="rId6" Type="http://schemas.openxmlformats.org/officeDocument/2006/relationships/image" Target="../media/image22.png"/><Relationship Id="rId11" Type="http://schemas.openxmlformats.org/officeDocument/2006/relationships/image" Target="../media/image48.svg"/><Relationship Id="rId24" Type="http://schemas.openxmlformats.org/officeDocument/2006/relationships/image" Target="../media/image31.png"/><Relationship Id="rId5" Type="http://schemas.openxmlformats.org/officeDocument/2006/relationships/image" Target="../media/image21.jpeg"/><Relationship Id="rId15" Type="http://schemas.openxmlformats.org/officeDocument/2006/relationships/image" Target="../media/image52.svg"/><Relationship Id="rId23" Type="http://schemas.openxmlformats.org/officeDocument/2006/relationships/image" Target="../media/image60.svg"/><Relationship Id="rId28" Type="http://schemas.openxmlformats.org/officeDocument/2006/relationships/image" Target="../media/image33.png"/><Relationship Id="rId10" Type="http://schemas.openxmlformats.org/officeDocument/2006/relationships/image" Target="../media/image24.png"/><Relationship Id="rId19" Type="http://schemas.openxmlformats.org/officeDocument/2006/relationships/image" Target="../media/image56.svg"/><Relationship Id="rId4" Type="http://schemas.openxmlformats.org/officeDocument/2006/relationships/image" Target="../media/image2.svg"/><Relationship Id="rId9" Type="http://schemas.openxmlformats.org/officeDocument/2006/relationships/image" Target="../media/image46.svg"/><Relationship Id="rId14" Type="http://schemas.openxmlformats.org/officeDocument/2006/relationships/image" Target="../media/image26.png"/><Relationship Id="rId22" Type="http://schemas.openxmlformats.org/officeDocument/2006/relationships/image" Target="../media/image30.png"/><Relationship Id="rId27" Type="http://schemas.openxmlformats.org/officeDocument/2006/relationships/image" Target="../media/image64.svg"/><Relationship Id="rId30" Type="http://schemas.openxmlformats.org/officeDocument/2006/relationships/image" Target="../media/image34.jpeg"/></Relationships>
</file>

<file path=ppt/slides/_rels/slide5.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79.svg"/><Relationship Id="rId18" Type="http://schemas.openxmlformats.org/officeDocument/2006/relationships/image" Target="../media/image42.png"/><Relationship Id="rId26" Type="http://schemas.openxmlformats.org/officeDocument/2006/relationships/image" Target="../media/image46.png"/><Relationship Id="rId3" Type="http://schemas.openxmlformats.org/officeDocument/2006/relationships/image" Target="../media/image35.png"/><Relationship Id="rId21" Type="http://schemas.openxmlformats.org/officeDocument/2006/relationships/image" Target="../media/image87.svg"/><Relationship Id="rId7" Type="http://schemas.openxmlformats.org/officeDocument/2006/relationships/image" Target="../media/image73.svg"/><Relationship Id="rId12" Type="http://schemas.openxmlformats.org/officeDocument/2006/relationships/image" Target="../media/image39.png"/><Relationship Id="rId17" Type="http://schemas.openxmlformats.org/officeDocument/2006/relationships/image" Target="../media/image83.svg"/><Relationship Id="rId25" Type="http://schemas.openxmlformats.org/officeDocument/2006/relationships/image" Target="../media/image91.svg"/><Relationship Id="rId2" Type="http://schemas.openxmlformats.org/officeDocument/2006/relationships/notesSlide" Target="../notesSlides/notesSlide5.xml"/><Relationship Id="rId16" Type="http://schemas.openxmlformats.org/officeDocument/2006/relationships/image" Target="../media/image41.png"/><Relationship Id="rId20" Type="http://schemas.openxmlformats.org/officeDocument/2006/relationships/image" Target="../media/image43.png"/><Relationship Id="rId29" Type="http://schemas.openxmlformats.org/officeDocument/2006/relationships/image" Target="../media/image95.svg"/><Relationship Id="rId1" Type="http://schemas.openxmlformats.org/officeDocument/2006/relationships/slideLayout" Target="../slideLayouts/slideLayout7.xml"/><Relationship Id="rId11" Type="http://schemas.openxmlformats.org/officeDocument/2006/relationships/image" Target="../media/image77.svg"/><Relationship Id="rId24" Type="http://schemas.openxmlformats.org/officeDocument/2006/relationships/image" Target="../media/image45.png"/><Relationship Id="rId5" Type="http://schemas.openxmlformats.org/officeDocument/2006/relationships/image" Target="../media/image36.png"/><Relationship Id="rId15" Type="http://schemas.openxmlformats.org/officeDocument/2006/relationships/image" Target="../media/image81.svg"/><Relationship Id="rId23" Type="http://schemas.openxmlformats.org/officeDocument/2006/relationships/image" Target="../media/image89.svg"/><Relationship Id="rId28" Type="http://schemas.openxmlformats.org/officeDocument/2006/relationships/image" Target="../media/image47.png"/><Relationship Id="rId10" Type="http://schemas.openxmlformats.org/officeDocument/2006/relationships/image" Target="../media/image38.png"/><Relationship Id="rId19" Type="http://schemas.openxmlformats.org/officeDocument/2006/relationships/image" Target="../media/image85.svg"/><Relationship Id="rId4" Type="http://schemas.openxmlformats.org/officeDocument/2006/relationships/image" Target="../media/image69.svg"/><Relationship Id="rId9" Type="http://schemas.openxmlformats.org/officeDocument/2006/relationships/image" Target="../media/image75.svg"/><Relationship Id="rId14" Type="http://schemas.openxmlformats.org/officeDocument/2006/relationships/image" Target="../media/image40.png"/><Relationship Id="rId22" Type="http://schemas.openxmlformats.org/officeDocument/2006/relationships/image" Target="../media/image44.png"/><Relationship Id="rId27" Type="http://schemas.openxmlformats.org/officeDocument/2006/relationships/image" Target="../media/image93.svg"/></Relationships>
</file>

<file path=ppt/slides/_rels/slide6.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14.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49.jpeg"/><Relationship Id="rId4" Type="http://schemas.openxmlformats.org/officeDocument/2006/relationships/image" Target="../media/image97.svg"/></Relationships>
</file>

<file path=ppt/slides/_rels/slide7.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35.png"/><Relationship Id="rId7" Type="http://schemas.openxmlformats.org/officeDocument/2006/relationships/image" Target="../media/image50.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10" Type="http://schemas.openxmlformats.org/officeDocument/2006/relationships/image" Target="../media/image107.svg"/><Relationship Id="rId4" Type="http://schemas.openxmlformats.org/officeDocument/2006/relationships/image" Target="../media/image69.svg"/></Relationships>
</file>

<file path=ppt/slides/_rels/slide8.xml.rels><?xml version="1.0" encoding="UTF-8" standalone="yes"?>
<Relationships xmlns="http://schemas.openxmlformats.org/package/2006/relationships"><Relationship Id="rId8" Type="http://schemas.openxmlformats.org/officeDocument/2006/relationships/image" Target="../media/image112.svg"/><Relationship Id="rId13" Type="http://schemas.openxmlformats.org/officeDocument/2006/relationships/image" Target="../media/image56.png"/><Relationship Id="rId18" Type="http://schemas.openxmlformats.org/officeDocument/2006/relationships/image" Target="../media/image122.svg"/><Relationship Id="rId3" Type="http://schemas.openxmlformats.org/officeDocument/2006/relationships/image" Target="../media/image7.png"/><Relationship Id="rId21" Type="http://schemas.openxmlformats.org/officeDocument/2006/relationships/image" Target="../media/image60.png"/><Relationship Id="rId12" Type="http://schemas.openxmlformats.org/officeDocument/2006/relationships/image" Target="../media/image116.svg"/><Relationship Id="rId17" Type="http://schemas.openxmlformats.org/officeDocument/2006/relationships/image" Target="../media/image58.png"/><Relationship Id="rId2" Type="http://schemas.openxmlformats.org/officeDocument/2006/relationships/notesSlide" Target="../notesSlides/notesSlide8.xml"/><Relationship Id="rId16" Type="http://schemas.openxmlformats.org/officeDocument/2006/relationships/image" Target="../media/image120.svg"/><Relationship Id="rId20" Type="http://schemas.openxmlformats.org/officeDocument/2006/relationships/image" Target="../media/image124.svg"/><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5.png"/><Relationship Id="rId5" Type="http://schemas.openxmlformats.org/officeDocument/2006/relationships/image" Target="../media/image52.jpeg"/><Relationship Id="rId15" Type="http://schemas.openxmlformats.org/officeDocument/2006/relationships/image" Target="../media/image57.png"/><Relationship Id="rId10" Type="http://schemas.openxmlformats.org/officeDocument/2006/relationships/image" Target="../media/image114.svg"/><Relationship Id="rId19" Type="http://schemas.openxmlformats.org/officeDocument/2006/relationships/image" Target="../media/image59.png"/><Relationship Id="rId4" Type="http://schemas.openxmlformats.org/officeDocument/2006/relationships/image" Target="../media/image14.svg"/><Relationship Id="rId9" Type="http://schemas.openxmlformats.org/officeDocument/2006/relationships/image" Target="../media/image54.png"/><Relationship Id="rId14" Type="http://schemas.openxmlformats.org/officeDocument/2006/relationships/image" Target="../media/image118.svg"/><Relationship Id="rId22" Type="http://schemas.openxmlformats.org/officeDocument/2006/relationships/image" Target="../media/image126.sv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48.svg"/><Relationship Id="rId18" Type="http://schemas.openxmlformats.org/officeDocument/2006/relationships/image" Target="../media/image27.png"/><Relationship Id="rId26" Type="http://schemas.openxmlformats.org/officeDocument/2006/relationships/image" Target="../media/image31.png"/><Relationship Id="rId3" Type="http://schemas.openxmlformats.org/officeDocument/2006/relationships/image" Target="../media/image35.png"/><Relationship Id="rId21" Type="http://schemas.openxmlformats.org/officeDocument/2006/relationships/image" Target="../media/image56.svg"/><Relationship Id="rId7" Type="http://schemas.openxmlformats.org/officeDocument/2006/relationships/image" Target="../media/image129.svg"/><Relationship Id="rId12" Type="http://schemas.openxmlformats.org/officeDocument/2006/relationships/image" Target="../media/image24.png"/><Relationship Id="rId17" Type="http://schemas.openxmlformats.org/officeDocument/2006/relationships/image" Target="../media/image52.svg"/><Relationship Id="rId25" Type="http://schemas.openxmlformats.org/officeDocument/2006/relationships/image" Target="../media/image60.svg"/><Relationship Id="rId2" Type="http://schemas.openxmlformats.org/officeDocument/2006/relationships/notesSlide" Target="../notesSlides/notesSlide9.xml"/><Relationship Id="rId16" Type="http://schemas.openxmlformats.org/officeDocument/2006/relationships/image" Target="../media/image26.png"/><Relationship Id="rId20" Type="http://schemas.openxmlformats.org/officeDocument/2006/relationships/image" Target="../media/image28.png"/><Relationship Id="rId29" Type="http://schemas.openxmlformats.org/officeDocument/2006/relationships/image" Target="../media/image64.svg"/><Relationship Id="rId1" Type="http://schemas.openxmlformats.org/officeDocument/2006/relationships/slideLayout" Target="../slideLayouts/slideLayout7.xml"/><Relationship Id="rId6" Type="http://schemas.openxmlformats.org/officeDocument/2006/relationships/image" Target="../media/image62.png"/><Relationship Id="rId11" Type="http://schemas.openxmlformats.org/officeDocument/2006/relationships/image" Target="../media/image46.svg"/><Relationship Id="rId24" Type="http://schemas.openxmlformats.org/officeDocument/2006/relationships/image" Target="../media/image30.png"/><Relationship Id="rId5" Type="http://schemas.openxmlformats.org/officeDocument/2006/relationships/image" Target="../media/image61.jpeg"/><Relationship Id="rId15" Type="http://schemas.openxmlformats.org/officeDocument/2006/relationships/image" Target="../media/image50.svg"/><Relationship Id="rId23" Type="http://schemas.openxmlformats.org/officeDocument/2006/relationships/image" Target="../media/image58.svg"/><Relationship Id="rId28" Type="http://schemas.openxmlformats.org/officeDocument/2006/relationships/image" Target="../media/image32.png"/><Relationship Id="rId10" Type="http://schemas.openxmlformats.org/officeDocument/2006/relationships/image" Target="../media/image23.png"/><Relationship Id="rId19" Type="http://schemas.openxmlformats.org/officeDocument/2006/relationships/image" Target="../media/image54.svg"/><Relationship Id="rId31" Type="http://schemas.openxmlformats.org/officeDocument/2006/relationships/image" Target="../media/image66.svg"/><Relationship Id="rId4" Type="http://schemas.openxmlformats.org/officeDocument/2006/relationships/image" Target="../media/image69.svg"/><Relationship Id="rId9" Type="http://schemas.openxmlformats.org/officeDocument/2006/relationships/image" Target="../media/image44.svg"/><Relationship Id="rId14" Type="http://schemas.openxmlformats.org/officeDocument/2006/relationships/image" Target="../media/image25.png"/><Relationship Id="rId22" Type="http://schemas.openxmlformats.org/officeDocument/2006/relationships/image" Target="../media/image29.png"/><Relationship Id="rId27" Type="http://schemas.openxmlformats.org/officeDocument/2006/relationships/image" Target="../media/image62.svg"/><Relationship Id="rId30" Type="http://schemas.openxmlformats.org/officeDocument/2006/relationships/image" Target="../media/image33.png"/></Relationships>
</file>

<file path=ppt/slides/_rels/slide10.xml.rels><?xml version="1.0" encoding="UTF-8" standalone="yes"?>
<Relationships xmlns="http://schemas.openxmlformats.org/package/2006/relationships"><Relationship Id="rId8" Type="http://schemas.openxmlformats.org/officeDocument/2006/relationships/image" Target="../media/image64.png"/><Relationship Id="rId18" Type="http://schemas.openxmlformats.org/officeDocument/2006/relationships/image" Target="../media/image140.svg"/><Relationship Id="rId26" Type="http://schemas.openxmlformats.org/officeDocument/2006/relationships/image" Target="../media/image116.svg"/><Relationship Id="rId3" Type="http://schemas.openxmlformats.org/officeDocument/2006/relationships/image" Target="../media/image5.png"/><Relationship Id="rId34" Type="http://schemas.openxmlformats.org/officeDocument/2006/relationships/image" Target="../media/image124.svg"/><Relationship Id="rId7" Type="http://schemas.openxmlformats.org/officeDocument/2006/relationships/image" Target="../media/image63.jpeg"/><Relationship Id="rId25" Type="http://schemas.openxmlformats.org/officeDocument/2006/relationships/image" Target="../media/image55.png"/><Relationship Id="rId33" Type="http://schemas.openxmlformats.org/officeDocument/2006/relationships/image" Target="../media/image59.png"/><Relationship Id="rId2" Type="http://schemas.openxmlformats.org/officeDocument/2006/relationships/notesSlide" Target="../notesSlides/notesSlide10.xml"/><Relationship Id="rId29" Type="http://schemas.openxmlformats.org/officeDocument/2006/relationships/image" Target="../media/image57.png"/><Relationship Id="rId1" Type="http://schemas.openxmlformats.org/officeDocument/2006/relationships/slideLayout" Target="../slideLayouts/slideLayout7.xml"/><Relationship Id="rId6" Type="http://schemas.openxmlformats.org/officeDocument/2006/relationships/image" Target="../media/image2.svg"/><Relationship Id="rId24" Type="http://schemas.openxmlformats.org/officeDocument/2006/relationships/image" Target="../media/image114.svg"/><Relationship Id="rId32" Type="http://schemas.openxmlformats.org/officeDocument/2006/relationships/image" Target="../media/image122.svg"/><Relationship Id="rId5" Type="http://schemas.openxmlformats.org/officeDocument/2006/relationships/image" Target="../media/image1.png"/><Relationship Id="rId23" Type="http://schemas.openxmlformats.org/officeDocument/2006/relationships/image" Target="../media/image54.png"/><Relationship Id="rId28" Type="http://schemas.openxmlformats.org/officeDocument/2006/relationships/image" Target="../media/image118.svg"/><Relationship Id="rId36" Type="http://schemas.openxmlformats.org/officeDocument/2006/relationships/image" Target="../media/image126.svg"/><Relationship Id="rId19" Type="http://schemas.openxmlformats.org/officeDocument/2006/relationships/image" Target="../media/image53.png"/><Relationship Id="rId31" Type="http://schemas.openxmlformats.org/officeDocument/2006/relationships/image" Target="../media/image58.png"/><Relationship Id="rId4" Type="http://schemas.openxmlformats.org/officeDocument/2006/relationships/image" Target="../media/image11.svg"/><Relationship Id="rId22" Type="http://schemas.openxmlformats.org/officeDocument/2006/relationships/image" Target="../media/image112.svg"/><Relationship Id="rId27" Type="http://schemas.openxmlformats.org/officeDocument/2006/relationships/image" Target="../media/image56.png"/><Relationship Id="rId30" Type="http://schemas.openxmlformats.org/officeDocument/2006/relationships/image" Target="../media/image120.svg"/><Relationship Id="rId35" Type="http://schemas.openxmlformats.org/officeDocument/2006/relationships/image" Target="../media/image60.png"/></Relationships>
</file>

<file path=ppt/slides/_rels/slide11.xml.rels><?xml version="1.0" encoding="UTF-8" standalone="yes"?>
<Relationships xmlns="http://schemas.openxmlformats.org/package/2006/relationships"><Relationship Id="rId18" Type="http://schemas.openxmlformats.org/officeDocument/2006/relationships/image" Target="../media/image140.svg"/><Relationship Id="rId26" Type="http://schemas.openxmlformats.org/officeDocument/2006/relationships/image" Target="../media/image116.svg"/><Relationship Id="rId34" Type="http://schemas.openxmlformats.org/officeDocument/2006/relationships/image" Target="../media/image124.svg"/><Relationship Id="rId25" Type="http://schemas.openxmlformats.org/officeDocument/2006/relationships/image" Target="../media/image55.png"/><Relationship Id="rId33" Type="http://schemas.openxmlformats.org/officeDocument/2006/relationships/image" Target="../media/image59.png"/><Relationship Id="rId2" Type="http://schemas.openxmlformats.org/officeDocument/2006/relationships/image" Target="../media/image64.png"/><Relationship Id="rId20" Type="http://schemas.openxmlformats.org/officeDocument/2006/relationships/image" Target="../media/image53.png"/><Relationship Id="rId29" Type="http://schemas.openxmlformats.org/officeDocument/2006/relationships/image" Target="../media/image57.png"/><Relationship Id="rId1" Type="http://schemas.openxmlformats.org/officeDocument/2006/relationships/slideLayout" Target="../slideLayouts/slideLayout7.xml"/><Relationship Id="rId24" Type="http://schemas.openxmlformats.org/officeDocument/2006/relationships/image" Target="../media/image114.svg"/><Relationship Id="rId32" Type="http://schemas.openxmlformats.org/officeDocument/2006/relationships/image" Target="../media/image122.svg"/><Relationship Id="rId23" Type="http://schemas.openxmlformats.org/officeDocument/2006/relationships/image" Target="../media/image54.png"/><Relationship Id="rId28" Type="http://schemas.openxmlformats.org/officeDocument/2006/relationships/image" Target="../media/image118.svg"/><Relationship Id="rId36" Type="http://schemas.openxmlformats.org/officeDocument/2006/relationships/image" Target="../media/image126.svg"/><Relationship Id="rId19" Type="http://schemas.openxmlformats.org/officeDocument/2006/relationships/hyperlink" Target="https://zipdo.co/transformation-statistics/" TargetMode="External"/><Relationship Id="rId31" Type="http://schemas.openxmlformats.org/officeDocument/2006/relationships/image" Target="../media/image58.png"/><Relationship Id="rId22" Type="http://schemas.openxmlformats.org/officeDocument/2006/relationships/image" Target="../media/image112.svg"/><Relationship Id="rId27" Type="http://schemas.openxmlformats.org/officeDocument/2006/relationships/image" Target="../media/image56.png"/><Relationship Id="rId30" Type="http://schemas.openxmlformats.org/officeDocument/2006/relationships/image" Target="../media/image120.svg"/><Relationship Id="rId35"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flipH="1" flipV="1">
            <a:off x="11526470" y="-261223"/>
            <a:ext cx="7725711" cy="7378054"/>
          </a:xfrm>
          <a:custGeom>
            <a:avLst/>
            <a:gdLst/>
            <a:ahLst/>
            <a:cxnLst/>
            <a:rect l="l" t="t" r="r" b="b"/>
            <a:pathLst>
              <a:path w="7725711" h="7378054">
                <a:moveTo>
                  <a:pt x="7725711" y="7378054"/>
                </a:moveTo>
                <a:lnTo>
                  <a:pt x="0" y="7378054"/>
                </a:lnTo>
                <a:lnTo>
                  <a:pt x="0" y="0"/>
                </a:lnTo>
                <a:lnTo>
                  <a:pt x="7725711" y="0"/>
                </a:lnTo>
                <a:lnTo>
                  <a:pt x="7725711" y="7378054"/>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3" name="Group 3"/>
          <p:cNvGrpSpPr/>
          <p:nvPr/>
        </p:nvGrpSpPr>
        <p:grpSpPr>
          <a:xfrm>
            <a:off x="11140698" y="2019300"/>
            <a:ext cx="6918701" cy="7848600"/>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l="-25046" r="-25046"/>
              </a:stretch>
            </a:blipFill>
            <a:ln w="238125" cap="sq">
              <a:solidFill>
                <a:srgbClr val="003F88"/>
              </a:solidFill>
              <a:prstDash val="solid"/>
              <a:miter/>
            </a:ln>
          </p:spPr>
        </p:sp>
      </p:grpSp>
      <p:sp>
        <p:nvSpPr>
          <p:cNvPr id="5" name="Freeform 5"/>
          <p:cNvSpPr/>
          <p:nvPr/>
        </p:nvSpPr>
        <p:spPr>
          <a:xfrm rot="-5400000">
            <a:off x="14496121" y="4704250"/>
            <a:ext cx="5526358" cy="5639141"/>
          </a:xfrm>
          <a:custGeom>
            <a:avLst/>
            <a:gdLst/>
            <a:ahLst/>
            <a:cxnLst/>
            <a:rect l="l" t="t" r="r" b="b"/>
            <a:pathLst>
              <a:path w="5526358" h="5639141">
                <a:moveTo>
                  <a:pt x="0" y="0"/>
                </a:moveTo>
                <a:lnTo>
                  <a:pt x="5526358" y="0"/>
                </a:lnTo>
                <a:lnTo>
                  <a:pt x="5526358" y="5639141"/>
                </a:lnTo>
                <a:lnTo>
                  <a:pt x="0" y="5639141"/>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txBody>
          <a:bodyPr/>
          <a:lstStyle/>
          <a:p>
            <a:endParaRPr lang="en-US"/>
          </a:p>
        </p:txBody>
      </p:sp>
      <p:sp>
        <p:nvSpPr>
          <p:cNvPr id="7" name="Freeform 7"/>
          <p:cNvSpPr/>
          <p:nvPr/>
        </p:nvSpPr>
        <p:spPr>
          <a:xfrm>
            <a:off x="220203" y="266700"/>
            <a:ext cx="808497" cy="545735"/>
          </a:xfrm>
          <a:custGeom>
            <a:avLst/>
            <a:gdLst/>
            <a:ahLst/>
            <a:cxnLst/>
            <a:rect l="l" t="t" r="r" b="b"/>
            <a:pathLst>
              <a:path w="808497" h="545735">
                <a:moveTo>
                  <a:pt x="0" y="0"/>
                </a:moveTo>
                <a:lnTo>
                  <a:pt x="808497" y="0"/>
                </a:lnTo>
                <a:lnTo>
                  <a:pt x="808497" y="545735"/>
                </a:lnTo>
                <a:lnTo>
                  <a:pt x="0" y="545735"/>
                </a:lnTo>
                <a:lnTo>
                  <a:pt x="0" y="0"/>
                </a:lnTo>
                <a:close/>
              </a:path>
            </a:pathLst>
          </a:custGeom>
          <a:blipFill>
            <a:blip r:embed="rId8">
              <a:extLst>
                <a:ext uri="{96DAC541-7B7A-43D3-8B79-37D633B846F1}">
                  <asvg:svgBlip xmlns="" xmlns:asvg="http://schemas.microsoft.com/office/drawing/2016/SVG/main" r:embed="rId10"/>
                </a:ext>
              </a:extLst>
            </a:blip>
            <a:stretch>
              <a:fillRect/>
            </a:stretch>
          </a:blipFill>
        </p:spPr>
        <p:txBody>
          <a:bodyPr/>
          <a:lstStyle/>
          <a:p>
            <a:endParaRPr lang="en-US" dirty="0"/>
          </a:p>
        </p:txBody>
      </p:sp>
      <p:sp>
        <p:nvSpPr>
          <p:cNvPr id="8" name="TextBox 8"/>
          <p:cNvSpPr txBox="1"/>
          <p:nvPr/>
        </p:nvSpPr>
        <p:spPr>
          <a:xfrm>
            <a:off x="2209800" y="570740"/>
            <a:ext cx="10832832" cy="923330"/>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Title and Purpose</a:t>
            </a:r>
            <a:endParaRPr lang="en-US" sz="6000" dirty="0">
              <a:latin typeface="Times New Roman" panose="02020603050405020304" pitchFamily="18" charset="0"/>
              <a:cs typeface="Times New Roman" panose="02020603050405020304" pitchFamily="18" charset="0"/>
            </a:endParaRPr>
          </a:p>
        </p:txBody>
      </p:sp>
      <p:sp>
        <p:nvSpPr>
          <p:cNvPr id="12" name="TextBox 12"/>
          <p:cNvSpPr txBox="1"/>
          <p:nvPr/>
        </p:nvSpPr>
        <p:spPr>
          <a:xfrm>
            <a:off x="412251" y="2583366"/>
            <a:ext cx="10479577" cy="7201972"/>
          </a:xfrm>
          <a:prstGeom prst="rect">
            <a:avLst/>
          </a:prstGeom>
        </p:spPr>
        <p:txBody>
          <a:bodyPr wrap="square" lIns="0" tIns="0" rIns="0" bIns="0" rtlCol="0" anchor="t">
            <a:spAutoFit/>
          </a:bodyPr>
          <a:lstStyle/>
          <a:p>
            <a:pPr lvl="0" algn="just"/>
            <a:r>
              <a:rPr lang="en-US" sz="3600" b="1" dirty="0">
                <a:latin typeface="Times New Roman" panose="02020603050405020304" pitchFamily="18" charset="0"/>
                <a:cs typeface="Times New Roman" panose="02020603050405020304" pitchFamily="18" charset="0"/>
              </a:rPr>
              <a:t>Project Topic:</a:t>
            </a:r>
            <a:r>
              <a:rPr lang="en-US" sz="3600" dirty="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Ruby is a modern programming language.</a:t>
            </a:r>
          </a:p>
          <a:p>
            <a:pPr marL="571500" lvl="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Not only is it a presentation of Ruby as a programming language, but also a philosophy of design, which emphasizes programmer productivity and readability.</a:t>
            </a:r>
          </a:p>
          <a:p>
            <a:pPr marL="571500" lvl="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most important point is that Ruby will still be useful in the situations where the speed of development, maintainability, and expressiveness of the syntax are more important than the execution speed (</a:t>
            </a:r>
            <a:r>
              <a:rPr lang="en-US" sz="3600" dirty="0" err="1">
                <a:latin typeface="Times New Roman" panose="02020603050405020304" pitchFamily="18" charset="0"/>
                <a:cs typeface="Times New Roman" panose="02020603050405020304" pitchFamily="18" charset="0"/>
              </a:rPr>
              <a:t>Heurich</a:t>
            </a:r>
            <a:r>
              <a:rPr lang="en-US" sz="3600" dirty="0">
                <a:latin typeface="Times New Roman" panose="02020603050405020304" pitchFamily="18" charset="0"/>
                <a:cs typeface="Times New Roman" panose="02020603050405020304" pitchFamily="18" charset="0"/>
              </a:rPr>
              <a:t>, 2024).</a:t>
            </a:r>
          </a:p>
          <a:p>
            <a:pPr marL="571500" lvl="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Ruby is still useful, but primarily in contextual, but not dominating, language</a:t>
            </a:r>
            <a:r>
              <a:rPr lang="en-US" sz="3600" dirty="0" smtClean="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rot="-5400000">
            <a:off x="11134393" y="4374089"/>
            <a:ext cx="7725711" cy="7378054"/>
          </a:xfrm>
          <a:custGeom>
            <a:avLst/>
            <a:gdLst/>
            <a:ahLst/>
            <a:cxnLst/>
            <a:rect l="l" t="t" r="r" b="b"/>
            <a:pathLst>
              <a:path w="7725711" h="7378054">
                <a:moveTo>
                  <a:pt x="0" y="0"/>
                </a:moveTo>
                <a:lnTo>
                  <a:pt x="7725711" y="0"/>
                </a:lnTo>
                <a:lnTo>
                  <a:pt x="7725711" y="7378054"/>
                </a:lnTo>
                <a:lnTo>
                  <a:pt x="0" y="7378054"/>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Freeform 3"/>
          <p:cNvSpPr/>
          <p:nvPr/>
        </p:nvSpPr>
        <p:spPr>
          <a:xfrm flipH="1" flipV="1">
            <a:off x="11308221" y="-213547"/>
            <a:ext cx="7191899" cy="7200900"/>
          </a:xfrm>
          <a:custGeom>
            <a:avLst/>
            <a:gdLst/>
            <a:ahLst/>
            <a:cxnLst/>
            <a:rect l="l" t="t" r="r" b="b"/>
            <a:pathLst>
              <a:path w="7191899" h="7200900">
                <a:moveTo>
                  <a:pt x="7191899" y="7200900"/>
                </a:moveTo>
                <a:lnTo>
                  <a:pt x="0" y="7200900"/>
                </a:lnTo>
                <a:lnTo>
                  <a:pt x="0" y="0"/>
                </a:lnTo>
                <a:lnTo>
                  <a:pt x="7191899" y="0"/>
                </a:lnTo>
                <a:lnTo>
                  <a:pt x="7191899" y="7200900"/>
                </a:lnTo>
                <a:close/>
              </a:path>
            </a:pathLst>
          </a:custGeom>
          <a:blipFill>
            <a:blip r:embed="rId5">
              <a:extLst>
                <a:ext uri="{96DAC541-7B7A-43D3-8B79-37D633B846F1}">
                  <asvg:svgBlip xmlns="" xmlns:asvg="http://schemas.microsoft.com/office/drawing/2016/SVG/main" r:embed="rId6"/>
                </a:ext>
              </a:extLst>
            </a:blip>
            <a:stretch>
              <a:fillRect/>
            </a:stretch>
          </a:blipFill>
        </p:spPr>
      </p:sp>
      <p:grpSp>
        <p:nvGrpSpPr>
          <p:cNvPr id="4" name="Group 4"/>
          <p:cNvGrpSpPr/>
          <p:nvPr/>
        </p:nvGrpSpPr>
        <p:grpSpPr>
          <a:xfrm>
            <a:off x="11308221" y="1028700"/>
            <a:ext cx="7673275" cy="767327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7"/>
              <a:stretch>
                <a:fillRect l="-25046" r="-25046"/>
              </a:stretch>
            </a:blipFill>
            <a:ln w="238125" cap="sq">
              <a:solidFill>
                <a:srgbClr val="003F88"/>
              </a:solidFill>
              <a:prstDash val="solid"/>
              <a:miter/>
            </a:ln>
          </p:spPr>
        </p:sp>
      </p:grpSp>
      <p:sp>
        <p:nvSpPr>
          <p:cNvPr id="6" name="TextBox 6"/>
          <p:cNvSpPr txBox="1"/>
          <p:nvPr/>
        </p:nvSpPr>
        <p:spPr>
          <a:xfrm>
            <a:off x="609600" y="342900"/>
            <a:ext cx="9521401" cy="1459567"/>
          </a:xfrm>
          <a:prstGeom prst="rect">
            <a:avLst/>
          </a:prstGeom>
        </p:spPr>
        <p:txBody>
          <a:bodyPr wrap="square" lIns="0" tIns="0" rIns="0" bIns="0" rtlCol="0" anchor="t">
            <a:spAutoFit/>
          </a:bodyPr>
          <a:lstStyle/>
          <a:p>
            <a:pPr>
              <a:lnSpc>
                <a:spcPts val="13310"/>
              </a:lnSpc>
            </a:pPr>
            <a:r>
              <a:rPr lang="en-US" sz="6000" b="1" dirty="0">
                <a:latin typeface="Times New Roman" panose="02020603050405020304" pitchFamily="18" charset="0"/>
                <a:cs typeface="Times New Roman" panose="02020603050405020304" pitchFamily="18" charset="0"/>
              </a:rPr>
              <a:t>Historical Context of Ruby</a:t>
            </a:r>
            <a:endParaRPr lang="en-US" sz="6000" b="1" dirty="0">
              <a:solidFill>
                <a:srgbClr val="00296B"/>
              </a:solidFill>
              <a:latin typeface="Times New Roman" panose="02020603050405020304" pitchFamily="18" charset="0"/>
              <a:ea typeface="Oswald Bold"/>
              <a:cs typeface="Times New Roman" panose="02020603050405020304" pitchFamily="18" charset="0"/>
              <a:sym typeface="Oswald Bold"/>
            </a:endParaRPr>
          </a:p>
        </p:txBody>
      </p:sp>
      <p:sp>
        <p:nvSpPr>
          <p:cNvPr id="7" name="TextBox 7"/>
          <p:cNvSpPr txBox="1"/>
          <p:nvPr/>
        </p:nvSpPr>
        <p:spPr>
          <a:xfrm>
            <a:off x="567156" y="1977499"/>
            <a:ext cx="10741065" cy="8186857"/>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Ruby is a program designed by Yukihiro Matsumoto in the mid 1990s, to make programming more fun and </a:t>
            </a:r>
            <a:r>
              <a:rPr lang="en-US" sz="3800" dirty="0" smtClean="0">
                <a:latin typeface="Times New Roman" panose="02020603050405020304" pitchFamily="18" charset="0"/>
                <a:cs typeface="Times New Roman" panose="02020603050405020304" pitchFamily="18" charset="0"/>
              </a:rPr>
              <a:t>human friendly</a:t>
            </a:r>
            <a:r>
              <a:rPr lang="en-US" sz="3800" dirty="0">
                <a:latin typeface="Times New Roman" panose="02020603050405020304" pitchFamily="18" charset="0"/>
                <a:cs typeface="Times New Roman" panose="02020603050405020304" pitchFamily="18" charset="0"/>
              </a:rPr>
              <a:t>.</a:t>
            </a:r>
          </a:p>
          <a:p>
            <a:pPr marL="571500" lvl="0" indent="-571500" algn="just">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Ruby contrasted with other languages which </a:t>
            </a:r>
            <a:r>
              <a:rPr lang="en-US" sz="3800" dirty="0" err="1">
                <a:latin typeface="Times New Roman" panose="02020603050405020304" pitchFamily="18" charset="0"/>
                <a:cs typeface="Times New Roman" panose="02020603050405020304" pitchFamily="18" charset="0"/>
              </a:rPr>
              <a:t>prioritised</a:t>
            </a:r>
            <a:r>
              <a:rPr lang="en-US" sz="3800" dirty="0">
                <a:latin typeface="Times New Roman" panose="02020603050405020304" pitchFamily="18" charset="0"/>
                <a:cs typeface="Times New Roman" panose="02020603050405020304" pitchFamily="18" charset="0"/>
              </a:rPr>
              <a:t> machine efficiency, with foregrounded simplicity, flexibility, and programmer happiness (</a:t>
            </a:r>
            <a:r>
              <a:rPr lang="en-US" sz="3800" dirty="0" err="1">
                <a:latin typeface="Times New Roman" panose="02020603050405020304" pitchFamily="18" charset="0"/>
                <a:cs typeface="Times New Roman" panose="02020603050405020304" pitchFamily="18" charset="0"/>
              </a:rPr>
              <a:t>Heurich</a:t>
            </a:r>
            <a:r>
              <a:rPr lang="en-US" sz="3800" dirty="0">
                <a:latin typeface="Times New Roman" panose="02020603050405020304" pitchFamily="18" charset="0"/>
                <a:cs typeface="Times New Roman" panose="02020603050405020304" pitchFamily="18" charset="0"/>
              </a:rPr>
              <a:t>, 2024).</a:t>
            </a:r>
          </a:p>
          <a:p>
            <a:pPr marL="571500" lvl="0" indent="-571500" algn="just">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Its popularity increased with Ruby on Rails that minimized repetitive configuration and accelerated web development (</a:t>
            </a:r>
            <a:r>
              <a:rPr lang="en-US" sz="3800" dirty="0" err="1">
                <a:latin typeface="Times New Roman" panose="02020603050405020304" pitchFamily="18" charset="0"/>
                <a:cs typeface="Times New Roman" panose="02020603050405020304" pitchFamily="18" charset="0"/>
              </a:rPr>
              <a:t>Tripathi</a:t>
            </a:r>
            <a:r>
              <a:rPr lang="en-US" sz="3800" dirty="0">
                <a:latin typeface="Times New Roman" panose="02020603050405020304" pitchFamily="18" charset="0"/>
                <a:cs typeface="Times New Roman" panose="02020603050405020304" pitchFamily="18" charset="0"/>
              </a:rPr>
              <a:t> et al., 2024).</a:t>
            </a:r>
          </a:p>
          <a:p>
            <a:pPr marL="571500" lvl="0" indent="-571500" algn="just">
              <a:buFont typeface="Arial" panose="020B0604020202020204" pitchFamily="34" charset="0"/>
              <a:buChar char="•"/>
            </a:pPr>
            <a:r>
              <a:rPr lang="en-US" sz="3800" dirty="0">
                <a:latin typeface="Times New Roman" panose="02020603050405020304" pitchFamily="18" charset="0"/>
                <a:cs typeface="Times New Roman" panose="02020603050405020304" pitchFamily="18" charset="0"/>
              </a:rPr>
              <a:t>Historically, Ruby is a response to a movement in software engineering away of hardware </a:t>
            </a:r>
            <a:r>
              <a:rPr lang="en-US" sz="3800" dirty="0" err="1">
                <a:latin typeface="Times New Roman" panose="02020603050405020304" pitchFamily="18" charset="0"/>
                <a:cs typeface="Times New Roman" panose="02020603050405020304" pitchFamily="18" charset="0"/>
              </a:rPr>
              <a:t>centred</a:t>
            </a:r>
            <a:r>
              <a:rPr lang="en-US" sz="3800" dirty="0">
                <a:latin typeface="Times New Roman" panose="02020603050405020304" pitchFamily="18" charset="0"/>
                <a:cs typeface="Times New Roman" panose="02020603050405020304" pitchFamily="18" charset="0"/>
              </a:rPr>
              <a:t> </a:t>
            </a:r>
            <a:r>
              <a:rPr lang="en-US" sz="3800" dirty="0" err="1">
                <a:latin typeface="Times New Roman" panose="02020603050405020304" pitchFamily="18" charset="0"/>
                <a:cs typeface="Times New Roman" panose="02020603050405020304" pitchFamily="18" charset="0"/>
              </a:rPr>
              <a:t>optimisation</a:t>
            </a:r>
            <a:r>
              <a:rPr lang="en-US" sz="3800" dirty="0">
                <a:latin typeface="Times New Roman" panose="02020603050405020304" pitchFamily="18" charset="0"/>
                <a:cs typeface="Times New Roman" panose="02020603050405020304" pitchFamily="18" charset="0"/>
              </a:rPr>
              <a:t> and towards the developer </a:t>
            </a:r>
            <a:r>
              <a:rPr lang="en-US" sz="3800" dirty="0" err="1">
                <a:latin typeface="Times New Roman" panose="02020603050405020304" pitchFamily="18" charset="0"/>
                <a:cs typeface="Times New Roman" panose="02020603050405020304" pitchFamily="18" charset="0"/>
              </a:rPr>
              <a:t>centred</a:t>
            </a:r>
            <a:r>
              <a:rPr lang="en-US" sz="3800" dirty="0">
                <a:latin typeface="Times New Roman" panose="02020603050405020304" pitchFamily="18" charset="0"/>
                <a:cs typeface="Times New Roman" panose="02020603050405020304" pitchFamily="18" charset="0"/>
              </a:rPr>
              <a:t> productivity</a:t>
            </a:r>
            <a:r>
              <a:rPr lang="en-US" sz="3800" dirty="0" smtClean="0">
                <a:latin typeface="Times New Roman" panose="02020603050405020304" pitchFamily="18" charset="0"/>
                <a:cs typeface="Times New Roman" panose="02020603050405020304" pitchFamily="18" charset="0"/>
              </a:rPr>
              <a:t>.</a:t>
            </a:r>
            <a:endParaRPr lang="en-US" sz="3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a:off x="0" y="3140146"/>
            <a:ext cx="7633983" cy="7500388"/>
          </a:xfrm>
          <a:custGeom>
            <a:avLst/>
            <a:gdLst/>
            <a:ahLst/>
            <a:cxnLst/>
            <a:rect l="l" t="t" r="r" b="b"/>
            <a:pathLst>
              <a:path w="7633983" h="7500388">
                <a:moveTo>
                  <a:pt x="0" y="0"/>
                </a:moveTo>
                <a:lnTo>
                  <a:pt x="7633983" y="0"/>
                </a:lnTo>
                <a:lnTo>
                  <a:pt x="7633983" y="7500388"/>
                </a:lnTo>
                <a:lnTo>
                  <a:pt x="0" y="7500388"/>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3" name="Group 3"/>
          <p:cNvGrpSpPr/>
          <p:nvPr/>
        </p:nvGrpSpPr>
        <p:grpSpPr>
          <a:xfrm>
            <a:off x="253842" y="2741422"/>
            <a:ext cx="6883716" cy="6883716"/>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l="-25046" r="-25046"/>
              </a:stretch>
            </a:blipFill>
            <a:ln w="238125" cap="sq">
              <a:solidFill>
                <a:srgbClr val="003F88"/>
              </a:solidFill>
              <a:prstDash val="solid"/>
              <a:miter/>
            </a:ln>
          </p:spPr>
        </p:sp>
      </p:grpSp>
      <p:sp>
        <p:nvSpPr>
          <p:cNvPr id="9" name="TextBox 9"/>
          <p:cNvSpPr txBox="1"/>
          <p:nvPr/>
        </p:nvSpPr>
        <p:spPr>
          <a:xfrm>
            <a:off x="5308758" y="726714"/>
            <a:ext cx="14173200" cy="923330"/>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Core Design Philosophy</a:t>
            </a:r>
            <a:endParaRPr lang="en-US" sz="6000" dirty="0">
              <a:latin typeface="Times New Roman" panose="02020603050405020304" pitchFamily="18" charset="0"/>
              <a:cs typeface="Times New Roman" panose="02020603050405020304" pitchFamily="18" charset="0"/>
            </a:endParaRPr>
          </a:p>
        </p:txBody>
      </p:sp>
      <p:sp>
        <p:nvSpPr>
          <p:cNvPr id="10" name="TextBox 10"/>
          <p:cNvSpPr txBox="1"/>
          <p:nvPr/>
        </p:nvSpPr>
        <p:spPr>
          <a:xfrm>
            <a:off x="7137558" y="3140146"/>
            <a:ext cx="10515600" cy="5539978"/>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most unusual aspect of Ruby is its adherence to human readable and expressive code.</a:t>
            </a:r>
          </a:p>
          <a:p>
            <a:pPr marL="571500" lvl="0" indent="-571500" algn="just">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It </a:t>
            </a:r>
            <a:r>
              <a:rPr lang="en-US" sz="4000" dirty="0">
                <a:latin typeface="Times New Roman" panose="02020603050405020304" pitchFamily="18" charset="0"/>
                <a:cs typeface="Times New Roman" panose="02020603050405020304" pitchFamily="18" charset="0"/>
              </a:rPr>
              <a:t>decreases cognitive load, enhances collaboration, and maintainability in the team setting (</a:t>
            </a:r>
            <a:r>
              <a:rPr lang="en-US" sz="4000" dirty="0" err="1">
                <a:latin typeface="Times New Roman" panose="02020603050405020304" pitchFamily="18" charset="0"/>
                <a:cs typeface="Times New Roman" panose="02020603050405020304" pitchFamily="18" charset="0"/>
              </a:rPr>
              <a:t>Heurich</a:t>
            </a:r>
            <a:r>
              <a:rPr lang="en-US" sz="4000" dirty="0">
                <a:latin typeface="Times New Roman" panose="02020603050405020304" pitchFamily="18" charset="0"/>
                <a:cs typeface="Times New Roman" panose="02020603050405020304" pitchFamily="18" charset="0"/>
              </a:rPr>
              <a:t>, 2024).</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Trade offs are a part of this philosophy, since the costs of an elegant syntax and object purity can be a performance </a:t>
            </a:r>
            <a:r>
              <a:rPr lang="en-US" sz="4000" dirty="0" smtClean="0">
                <a:latin typeface="Times New Roman" panose="02020603050405020304" pitchFamily="18" charset="0"/>
                <a:cs typeface="Times New Roman" panose="02020603050405020304" pitchFamily="18" charset="0"/>
              </a:rPr>
              <a:t>cost.</a:t>
            </a:r>
            <a:endParaRPr lang="en-US" sz="4000" dirty="0">
              <a:latin typeface="Times New Roman" panose="02020603050405020304" pitchFamily="18" charset="0"/>
              <a:cs typeface="Times New Roman" panose="02020603050405020304" pitchFamily="18" charset="0"/>
            </a:endParaRPr>
          </a:p>
        </p:txBody>
      </p:sp>
      <p:grpSp>
        <p:nvGrpSpPr>
          <p:cNvPr id="15" name="Group 15"/>
          <p:cNvGrpSpPr/>
          <p:nvPr/>
        </p:nvGrpSpPr>
        <p:grpSpPr>
          <a:xfrm>
            <a:off x="272491" y="1393799"/>
            <a:ext cx="1512418" cy="941724"/>
            <a:chOff x="0" y="0"/>
            <a:chExt cx="2016557" cy="1255632"/>
          </a:xfrm>
        </p:grpSpPr>
        <p:sp>
          <p:nvSpPr>
            <p:cNvPr id="16" name="Freeform 16"/>
            <p:cNvSpPr/>
            <p:nvPr/>
          </p:nvSpPr>
          <p:spPr>
            <a:xfrm rot="-5400000">
              <a:off x="1208175" y="1954"/>
              <a:ext cx="198771" cy="198771"/>
            </a:xfrm>
            <a:custGeom>
              <a:avLst/>
              <a:gdLst/>
              <a:ahLst/>
              <a:cxnLst/>
              <a:rect l="l" t="t" r="r" b="b"/>
              <a:pathLst>
                <a:path w="198771" h="198771">
                  <a:moveTo>
                    <a:pt x="0" y="0"/>
                  </a:moveTo>
                  <a:lnTo>
                    <a:pt x="198771" y="0"/>
                  </a:lnTo>
                  <a:lnTo>
                    <a:pt x="198771" y="198771"/>
                  </a:lnTo>
                  <a:lnTo>
                    <a:pt x="0" y="198771"/>
                  </a:lnTo>
                  <a:lnTo>
                    <a:pt x="0" y="0"/>
                  </a:lnTo>
                  <a:close/>
                </a:path>
              </a:pathLst>
            </a:custGeom>
            <a:blipFill>
              <a:blip r:embed="rId6">
                <a:alphaModFix amt="19999"/>
                <a:extLst>
                  <a:ext uri="{96DAC541-7B7A-43D3-8B79-37D633B846F1}">
                    <asvg:svgBlip xmlns="" xmlns:asvg="http://schemas.microsoft.com/office/drawing/2016/SVG/main" r:embed="rId8"/>
                  </a:ext>
                </a:extLst>
              </a:blip>
              <a:stretch>
                <a:fillRect/>
              </a:stretch>
            </a:blipFill>
          </p:spPr>
        </p:sp>
        <p:sp>
          <p:nvSpPr>
            <p:cNvPr id="17" name="Freeform 17"/>
            <p:cNvSpPr/>
            <p:nvPr/>
          </p:nvSpPr>
          <p:spPr>
            <a:xfrm rot="-5400000">
              <a:off x="1815832" y="525230"/>
              <a:ext cx="198771" cy="198771"/>
            </a:xfrm>
            <a:custGeom>
              <a:avLst/>
              <a:gdLst/>
              <a:ahLst/>
              <a:cxnLst/>
              <a:rect l="l" t="t" r="r" b="b"/>
              <a:pathLst>
                <a:path w="198771" h="198771">
                  <a:moveTo>
                    <a:pt x="0" y="0"/>
                  </a:moveTo>
                  <a:lnTo>
                    <a:pt x="198772" y="0"/>
                  </a:lnTo>
                  <a:lnTo>
                    <a:pt x="198772" y="198772"/>
                  </a:lnTo>
                  <a:lnTo>
                    <a:pt x="0" y="198772"/>
                  </a:lnTo>
                  <a:lnTo>
                    <a:pt x="0" y="0"/>
                  </a:lnTo>
                  <a:close/>
                </a:path>
              </a:pathLst>
            </a:custGeom>
            <a:blipFill>
              <a:blip r:embed="rId9">
                <a:alphaModFix amt="19999"/>
                <a:extLst>
                  <a:ext uri="{96DAC541-7B7A-43D3-8B79-37D633B846F1}">
                    <asvg:svgBlip xmlns="" xmlns:asvg="http://schemas.microsoft.com/office/drawing/2016/SVG/main" r:embed="rId10"/>
                  </a:ext>
                </a:extLst>
              </a:blip>
              <a:stretch>
                <a:fillRect/>
              </a:stretch>
            </a:blipFill>
          </p:spPr>
        </p:sp>
        <p:sp>
          <p:nvSpPr>
            <p:cNvPr id="18" name="Freeform 18"/>
            <p:cNvSpPr/>
            <p:nvPr/>
          </p:nvSpPr>
          <p:spPr>
            <a:xfrm rot="-5400000">
              <a:off x="602472" y="1056785"/>
              <a:ext cx="198771" cy="198771"/>
            </a:xfrm>
            <a:custGeom>
              <a:avLst/>
              <a:gdLst/>
              <a:ahLst/>
              <a:cxnLst/>
              <a:rect l="l" t="t" r="r" b="b"/>
              <a:pathLst>
                <a:path w="198771" h="198771">
                  <a:moveTo>
                    <a:pt x="0" y="0"/>
                  </a:moveTo>
                  <a:lnTo>
                    <a:pt x="198771" y="0"/>
                  </a:lnTo>
                  <a:lnTo>
                    <a:pt x="198771" y="198771"/>
                  </a:lnTo>
                  <a:lnTo>
                    <a:pt x="0" y="198771"/>
                  </a:lnTo>
                  <a:lnTo>
                    <a:pt x="0" y="0"/>
                  </a:lnTo>
                  <a:close/>
                </a:path>
              </a:pathLst>
            </a:custGeom>
            <a:blipFill>
              <a:blip r:embed="rId11">
                <a:alphaModFix amt="19999"/>
                <a:extLst>
                  <a:ext uri="{96DAC541-7B7A-43D3-8B79-37D633B846F1}">
                    <asvg:svgBlip xmlns="" xmlns:asvg="http://schemas.microsoft.com/office/drawing/2016/SVG/main" r:embed="rId12"/>
                  </a:ext>
                </a:extLst>
              </a:blip>
              <a:stretch>
                <a:fillRect/>
              </a:stretch>
            </a:blipFill>
          </p:spPr>
        </p:sp>
        <p:sp>
          <p:nvSpPr>
            <p:cNvPr id="19" name="Freeform 19"/>
            <p:cNvSpPr/>
            <p:nvPr/>
          </p:nvSpPr>
          <p:spPr>
            <a:xfrm rot="-5400000">
              <a:off x="602472" y="527738"/>
              <a:ext cx="198771" cy="198771"/>
            </a:xfrm>
            <a:custGeom>
              <a:avLst/>
              <a:gdLst/>
              <a:ahLst/>
              <a:cxnLst/>
              <a:rect l="l" t="t" r="r" b="b"/>
              <a:pathLst>
                <a:path w="198771" h="198771">
                  <a:moveTo>
                    <a:pt x="0" y="0"/>
                  </a:moveTo>
                  <a:lnTo>
                    <a:pt x="198771" y="0"/>
                  </a:lnTo>
                  <a:lnTo>
                    <a:pt x="198771" y="198771"/>
                  </a:lnTo>
                  <a:lnTo>
                    <a:pt x="0" y="198771"/>
                  </a:lnTo>
                  <a:lnTo>
                    <a:pt x="0" y="0"/>
                  </a:lnTo>
                  <a:close/>
                </a:path>
              </a:pathLst>
            </a:custGeom>
            <a:blipFill>
              <a:blip r:embed="rId13">
                <a:alphaModFix amt="19999"/>
                <a:extLst>
                  <a:ext uri="{96DAC541-7B7A-43D3-8B79-37D633B846F1}">
                    <asvg:svgBlip xmlns="" xmlns:asvg="http://schemas.microsoft.com/office/drawing/2016/SVG/main" r:embed="rId14"/>
                  </a:ext>
                </a:extLst>
              </a:blip>
              <a:stretch>
                <a:fillRect/>
              </a:stretch>
            </a:blipFill>
          </p:spPr>
        </p:sp>
        <p:sp>
          <p:nvSpPr>
            <p:cNvPr id="20" name="Freeform 20"/>
            <p:cNvSpPr/>
            <p:nvPr/>
          </p:nvSpPr>
          <p:spPr>
            <a:xfrm rot="-5400000">
              <a:off x="602472" y="6947"/>
              <a:ext cx="198771" cy="198771"/>
            </a:xfrm>
            <a:custGeom>
              <a:avLst/>
              <a:gdLst/>
              <a:ahLst/>
              <a:cxnLst/>
              <a:rect l="l" t="t" r="r" b="b"/>
              <a:pathLst>
                <a:path w="198771" h="198771">
                  <a:moveTo>
                    <a:pt x="0" y="0"/>
                  </a:moveTo>
                  <a:lnTo>
                    <a:pt x="198771" y="0"/>
                  </a:lnTo>
                  <a:lnTo>
                    <a:pt x="198771" y="198772"/>
                  </a:lnTo>
                  <a:lnTo>
                    <a:pt x="0" y="198772"/>
                  </a:lnTo>
                  <a:lnTo>
                    <a:pt x="0" y="0"/>
                  </a:lnTo>
                  <a:close/>
                </a:path>
              </a:pathLst>
            </a:custGeom>
            <a:blipFill>
              <a:blip r:embed="rId15">
                <a:alphaModFix amt="19999"/>
                <a:extLst>
                  <a:ext uri="{96DAC541-7B7A-43D3-8B79-37D633B846F1}">
                    <asvg:svgBlip xmlns="" xmlns:asvg="http://schemas.microsoft.com/office/drawing/2016/SVG/main" r:embed="rId16"/>
                  </a:ext>
                </a:extLst>
              </a:blip>
              <a:stretch>
                <a:fillRect/>
              </a:stretch>
            </a:blipFill>
          </p:spPr>
        </p:sp>
        <p:sp>
          <p:nvSpPr>
            <p:cNvPr id="21" name="Freeform 21"/>
            <p:cNvSpPr/>
            <p:nvPr/>
          </p:nvSpPr>
          <p:spPr>
            <a:xfrm rot="-5400000">
              <a:off x="1815832" y="1056860"/>
              <a:ext cx="198771" cy="198771"/>
            </a:xfrm>
            <a:custGeom>
              <a:avLst/>
              <a:gdLst/>
              <a:ahLst/>
              <a:cxnLst/>
              <a:rect l="l" t="t" r="r" b="b"/>
              <a:pathLst>
                <a:path w="198771" h="198771">
                  <a:moveTo>
                    <a:pt x="0" y="0"/>
                  </a:moveTo>
                  <a:lnTo>
                    <a:pt x="198772" y="0"/>
                  </a:lnTo>
                  <a:lnTo>
                    <a:pt x="198772" y="198772"/>
                  </a:lnTo>
                  <a:lnTo>
                    <a:pt x="0" y="198772"/>
                  </a:lnTo>
                  <a:lnTo>
                    <a:pt x="0" y="0"/>
                  </a:lnTo>
                  <a:close/>
                </a:path>
              </a:pathLst>
            </a:custGeom>
            <a:blipFill>
              <a:blip r:embed="rId17">
                <a:alphaModFix amt="19999"/>
                <a:extLst>
                  <a:ext uri="{96DAC541-7B7A-43D3-8B79-37D633B846F1}">
                    <asvg:svgBlip xmlns="" xmlns:asvg="http://schemas.microsoft.com/office/drawing/2016/SVG/main" r:embed="rId18"/>
                  </a:ext>
                </a:extLst>
              </a:blip>
              <a:stretch>
                <a:fillRect/>
              </a:stretch>
            </a:blipFill>
          </p:spPr>
        </p:sp>
        <p:sp>
          <p:nvSpPr>
            <p:cNvPr id="22" name="Freeform 22"/>
            <p:cNvSpPr/>
            <p:nvPr/>
          </p:nvSpPr>
          <p:spPr>
            <a:xfrm rot="-5400000">
              <a:off x="1208175" y="1056860"/>
              <a:ext cx="198771" cy="198771"/>
            </a:xfrm>
            <a:custGeom>
              <a:avLst/>
              <a:gdLst/>
              <a:ahLst/>
              <a:cxnLst/>
              <a:rect l="l" t="t" r="r" b="b"/>
              <a:pathLst>
                <a:path w="198771" h="198771">
                  <a:moveTo>
                    <a:pt x="0" y="0"/>
                  </a:moveTo>
                  <a:lnTo>
                    <a:pt x="198771" y="0"/>
                  </a:lnTo>
                  <a:lnTo>
                    <a:pt x="198771" y="198772"/>
                  </a:lnTo>
                  <a:lnTo>
                    <a:pt x="0" y="198772"/>
                  </a:lnTo>
                  <a:lnTo>
                    <a:pt x="0" y="0"/>
                  </a:lnTo>
                  <a:close/>
                </a:path>
              </a:pathLst>
            </a:custGeom>
            <a:blipFill>
              <a:blip r:embed="rId19">
                <a:alphaModFix amt="19999"/>
                <a:extLst>
                  <a:ext uri="{96DAC541-7B7A-43D3-8B79-37D633B846F1}">
                    <asvg:svgBlip xmlns="" xmlns:asvg="http://schemas.microsoft.com/office/drawing/2016/SVG/main" r:embed="rId20"/>
                  </a:ext>
                </a:extLst>
              </a:blip>
              <a:stretch>
                <a:fillRect/>
              </a:stretch>
            </a:blipFill>
          </p:spPr>
        </p:sp>
        <p:sp>
          <p:nvSpPr>
            <p:cNvPr id="23" name="Freeform 23"/>
            <p:cNvSpPr/>
            <p:nvPr/>
          </p:nvSpPr>
          <p:spPr>
            <a:xfrm rot="-5400000">
              <a:off x="1207643" y="524698"/>
              <a:ext cx="199836" cy="199836"/>
            </a:xfrm>
            <a:custGeom>
              <a:avLst/>
              <a:gdLst/>
              <a:ahLst/>
              <a:cxnLst/>
              <a:rect l="l" t="t" r="r" b="b"/>
              <a:pathLst>
                <a:path w="199836" h="199836">
                  <a:moveTo>
                    <a:pt x="0" y="0"/>
                  </a:moveTo>
                  <a:lnTo>
                    <a:pt x="199835" y="0"/>
                  </a:lnTo>
                  <a:lnTo>
                    <a:pt x="199835" y="199836"/>
                  </a:lnTo>
                  <a:lnTo>
                    <a:pt x="0" y="199836"/>
                  </a:lnTo>
                  <a:lnTo>
                    <a:pt x="0" y="0"/>
                  </a:lnTo>
                  <a:close/>
                </a:path>
              </a:pathLst>
            </a:custGeom>
            <a:blipFill>
              <a:blip r:embed="rId21">
                <a:alphaModFix amt="19999"/>
                <a:extLst>
                  <a:ext uri="{96DAC541-7B7A-43D3-8B79-37D633B846F1}">
                    <asvg:svgBlip xmlns="" xmlns:asvg="http://schemas.microsoft.com/office/drawing/2016/SVG/main" r:embed="rId22"/>
                  </a:ext>
                </a:extLst>
              </a:blip>
              <a:stretch>
                <a:fillRect/>
              </a:stretch>
            </a:blipFill>
          </p:spPr>
        </p:sp>
        <p:sp>
          <p:nvSpPr>
            <p:cNvPr id="24" name="Freeform 24"/>
            <p:cNvSpPr/>
            <p:nvPr/>
          </p:nvSpPr>
          <p:spPr>
            <a:xfrm rot="-5400000">
              <a:off x="76" y="6947"/>
              <a:ext cx="198771" cy="198771"/>
            </a:xfrm>
            <a:custGeom>
              <a:avLst/>
              <a:gdLst/>
              <a:ahLst/>
              <a:cxnLst/>
              <a:rect l="l" t="t" r="r" b="b"/>
              <a:pathLst>
                <a:path w="198771" h="198771">
                  <a:moveTo>
                    <a:pt x="0" y="0"/>
                  </a:moveTo>
                  <a:lnTo>
                    <a:pt x="198771" y="0"/>
                  </a:lnTo>
                  <a:lnTo>
                    <a:pt x="198771" y="198772"/>
                  </a:lnTo>
                  <a:lnTo>
                    <a:pt x="0" y="198772"/>
                  </a:lnTo>
                  <a:lnTo>
                    <a:pt x="0" y="0"/>
                  </a:lnTo>
                  <a:close/>
                </a:path>
              </a:pathLst>
            </a:custGeom>
            <a:blipFill>
              <a:blip r:embed="rId23">
                <a:alphaModFix amt="19999"/>
                <a:extLst>
                  <a:ext uri="{96DAC541-7B7A-43D3-8B79-37D633B846F1}">
                    <asvg:svgBlip xmlns="" xmlns:asvg="http://schemas.microsoft.com/office/drawing/2016/SVG/main" r:embed="rId24"/>
                  </a:ext>
                </a:extLst>
              </a:blip>
              <a:stretch>
                <a:fillRect/>
              </a:stretch>
            </a:blipFill>
          </p:spPr>
        </p:sp>
        <p:sp>
          <p:nvSpPr>
            <p:cNvPr id="25" name="Freeform 25"/>
            <p:cNvSpPr/>
            <p:nvPr/>
          </p:nvSpPr>
          <p:spPr>
            <a:xfrm rot="-5400000">
              <a:off x="76" y="527738"/>
              <a:ext cx="198771" cy="198771"/>
            </a:xfrm>
            <a:custGeom>
              <a:avLst/>
              <a:gdLst/>
              <a:ahLst/>
              <a:cxnLst/>
              <a:rect l="l" t="t" r="r" b="b"/>
              <a:pathLst>
                <a:path w="198771" h="198771">
                  <a:moveTo>
                    <a:pt x="0" y="0"/>
                  </a:moveTo>
                  <a:lnTo>
                    <a:pt x="198771" y="0"/>
                  </a:lnTo>
                  <a:lnTo>
                    <a:pt x="198771" y="198771"/>
                  </a:lnTo>
                  <a:lnTo>
                    <a:pt x="0" y="198771"/>
                  </a:lnTo>
                  <a:lnTo>
                    <a:pt x="0" y="0"/>
                  </a:lnTo>
                  <a:close/>
                </a:path>
              </a:pathLst>
            </a:custGeom>
            <a:blipFill>
              <a:blip r:embed="rId25">
                <a:alphaModFix amt="19999"/>
                <a:extLst>
                  <a:ext uri="{96DAC541-7B7A-43D3-8B79-37D633B846F1}">
                    <asvg:svgBlip xmlns="" xmlns:asvg="http://schemas.microsoft.com/office/drawing/2016/SVG/main" r:embed="rId26"/>
                  </a:ext>
                </a:extLst>
              </a:blip>
              <a:stretch>
                <a:fillRect/>
              </a:stretch>
            </a:blipFill>
          </p:spPr>
        </p:sp>
        <p:sp>
          <p:nvSpPr>
            <p:cNvPr id="26" name="Freeform 26"/>
            <p:cNvSpPr/>
            <p:nvPr/>
          </p:nvSpPr>
          <p:spPr>
            <a:xfrm rot="-5400000">
              <a:off x="1813878" y="0"/>
              <a:ext cx="202679" cy="202679"/>
            </a:xfrm>
            <a:custGeom>
              <a:avLst/>
              <a:gdLst/>
              <a:ahLst/>
              <a:cxnLst/>
              <a:rect l="l" t="t" r="r" b="b"/>
              <a:pathLst>
                <a:path w="202679" h="202679">
                  <a:moveTo>
                    <a:pt x="0" y="0"/>
                  </a:moveTo>
                  <a:lnTo>
                    <a:pt x="202679" y="0"/>
                  </a:lnTo>
                  <a:lnTo>
                    <a:pt x="202679" y="202679"/>
                  </a:lnTo>
                  <a:lnTo>
                    <a:pt x="0" y="202679"/>
                  </a:lnTo>
                  <a:lnTo>
                    <a:pt x="0" y="0"/>
                  </a:lnTo>
                  <a:close/>
                </a:path>
              </a:pathLst>
            </a:custGeom>
            <a:blipFill>
              <a:blip r:embed="rId27">
                <a:alphaModFix amt="19999"/>
                <a:extLst>
                  <a:ext uri="{96DAC541-7B7A-43D3-8B79-37D633B846F1}">
                    <asvg:svgBlip xmlns="" xmlns:asvg="http://schemas.microsoft.com/office/drawing/2016/SVG/main" r:embed="rId28"/>
                  </a:ext>
                </a:extLst>
              </a:blip>
              <a:stretch>
                <a:fillRect/>
              </a:stretch>
            </a:blipFill>
          </p:spPr>
        </p:sp>
        <p:sp>
          <p:nvSpPr>
            <p:cNvPr id="27" name="Freeform 27"/>
            <p:cNvSpPr/>
            <p:nvPr/>
          </p:nvSpPr>
          <p:spPr>
            <a:xfrm rot="-5400000">
              <a:off x="0" y="1056709"/>
              <a:ext cx="198923" cy="198923"/>
            </a:xfrm>
            <a:custGeom>
              <a:avLst/>
              <a:gdLst/>
              <a:ahLst/>
              <a:cxnLst/>
              <a:rect l="l" t="t" r="r" b="b"/>
              <a:pathLst>
                <a:path w="198923" h="198923">
                  <a:moveTo>
                    <a:pt x="0" y="0"/>
                  </a:moveTo>
                  <a:lnTo>
                    <a:pt x="198923" y="0"/>
                  </a:lnTo>
                  <a:lnTo>
                    <a:pt x="198923" y="198923"/>
                  </a:lnTo>
                  <a:lnTo>
                    <a:pt x="0" y="198923"/>
                  </a:lnTo>
                  <a:lnTo>
                    <a:pt x="0" y="0"/>
                  </a:lnTo>
                  <a:close/>
                </a:path>
              </a:pathLst>
            </a:custGeom>
            <a:blipFill>
              <a:blip r:embed="rId29">
                <a:alphaModFix amt="19999"/>
                <a:extLst>
                  <a:ext uri="{96DAC541-7B7A-43D3-8B79-37D633B846F1}">
                    <asvg:svgBlip xmlns="" xmlns:asvg="http://schemas.microsoft.com/office/drawing/2016/SVG/main" r:embed="rId30"/>
                  </a:ext>
                </a:extLst>
              </a:blip>
              <a:stretch>
                <a:fillRect/>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
          <p:cNvSpPr txBox="1"/>
          <p:nvPr/>
        </p:nvSpPr>
        <p:spPr>
          <a:xfrm>
            <a:off x="510215" y="1065829"/>
            <a:ext cx="10380868" cy="923330"/>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Key Technical Features</a:t>
            </a:r>
            <a:endParaRPr lang="en-US" sz="6000" dirty="0">
              <a:latin typeface="Times New Roman" panose="02020603050405020304" pitchFamily="18" charset="0"/>
              <a:cs typeface="Times New Roman" panose="02020603050405020304" pitchFamily="18" charset="0"/>
            </a:endParaRPr>
          </a:p>
        </p:txBody>
      </p:sp>
      <p:sp>
        <p:nvSpPr>
          <p:cNvPr id="3" name="Freeform 3"/>
          <p:cNvSpPr/>
          <p:nvPr/>
        </p:nvSpPr>
        <p:spPr>
          <a:xfrm flipH="1" flipV="1">
            <a:off x="11216862" y="-342796"/>
            <a:ext cx="7725711" cy="7378054"/>
          </a:xfrm>
          <a:custGeom>
            <a:avLst/>
            <a:gdLst/>
            <a:ahLst/>
            <a:cxnLst/>
            <a:rect l="l" t="t" r="r" b="b"/>
            <a:pathLst>
              <a:path w="7725711" h="7378054">
                <a:moveTo>
                  <a:pt x="7725710" y="7378054"/>
                </a:moveTo>
                <a:lnTo>
                  <a:pt x="0" y="7378054"/>
                </a:lnTo>
                <a:lnTo>
                  <a:pt x="0" y="0"/>
                </a:lnTo>
                <a:lnTo>
                  <a:pt x="7725710" y="0"/>
                </a:lnTo>
                <a:lnTo>
                  <a:pt x="7725710" y="7378054"/>
                </a:lnTo>
                <a:close/>
              </a:path>
            </a:pathLst>
          </a:custGeom>
          <a:blipFill>
            <a:blip r:embed="rId3">
              <a:extLst>
                <a:ext uri="{96DAC541-7B7A-43D3-8B79-37D633B846F1}">
                  <asvg:svgBlip xmlns=""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11404284" y="8363"/>
            <a:ext cx="6883716" cy="6883716"/>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l="-34388" r="-34388"/>
              </a:stretch>
            </a:blipFill>
            <a:ln w="238125" cap="sq">
              <a:solidFill>
                <a:srgbClr val="003F88"/>
              </a:solidFill>
              <a:prstDash val="solid"/>
              <a:miter/>
            </a:ln>
          </p:spPr>
        </p:sp>
      </p:grpSp>
      <p:grpSp>
        <p:nvGrpSpPr>
          <p:cNvPr id="6" name="Group 6"/>
          <p:cNvGrpSpPr/>
          <p:nvPr/>
        </p:nvGrpSpPr>
        <p:grpSpPr>
          <a:xfrm>
            <a:off x="12421079" y="9258300"/>
            <a:ext cx="2931393" cy="774593"/>
            <a:chOff x="0" y="0"/>
            <a:chExt cx="3908523" cy="1032790"/>
          </a:xfrm>
        </p:grpSpPr>
        <p:sp>
          <p:nvSpPr>
            <p:cNvPr id="7" name="Freeform 7"/>
            <p:cNvSpPr/>
            <p:nvPr/>
          </p:nvSpPr>
          <p:spPr>
            <a:xfrm>
              <a:off x="2940644" y="354"/>
              <a:ext cx="232718" cy="232718"/>
            </a:xfrm>
            <a:custGeom>
              <a:avLst/>
              <a:gdLst/>
              <a:ahLst/>
              <a:cxnLst/>
              <a:rect l="l" t="t" r="r" b="b"/>
              <a:pathLst>
                <a:path w="232718" h="232718">
                  <a:moveTo>
                    <a:pt x="0" y="0"/>
                  </a:moveTo>
                  <a:lnTo>
                    <a:pt x="232718" y="0"/>
                  </a:lnTo>
                  <a:lnTo>
                    <a:pt x="232718" y="232718"/>
                  </a:lnTo>
                  <a:lnTo>
                    <a:pt x="0" y="232718"/>
                  </a:lnTo>
                  <a:lnTo>
                    <a:pt x="0" y="0"/>
                  </a:lnTo>
                  <a:close/>
                </a:path>
              </a:pathLst>
            </a:custGeom>
            <a:blipFill>
              <a:blip r:embed="rId6">
                <a:alphaModFix amt="19999"/>
                <a:extLst>
                  <a:ext uri="{96DAC541-7B7A-43D3-8B79-37D633B846F1}">
                    <asvg:svgBlip xmlns="" xmlns:asvg="http://schemas.microsoft.com/office/drawing/2016/SVG/main" r:embed="rId7"/>
                  </a:ext>
                </a:extLst>
              </a:blip>
              <a:stretch>
                <a:fillRect l="-458543" t="-97554" r="-360591" b="-721580"/>
              </a:stretch>
            </a:blipFill>
          </p:spPr>
        </p:sp>
        <p:sp>
          <p:nvSpPr>
            <p:cNvPr id="8" name="Freeform 8"/>
            <p:cNvSpPr/>
            <p:nvPr/>
          </p:nvSpPr>
          <p:spPr>
            <a:xfrm>
              <a:off x="1470322" y="0"/>
              <a:ext cx="232718" cy="233568"/>
            </a:xfrm>
            <a:custGeom>
              <a:avLst/>
              <a:gdLst/>
              <a:ahLst/>
              <a:cxnLst/>
              <a:rect l="l" t="t" r="r" b="b"/>
              <a:pathLst>
                <a:path w="232718" h="233568">
                  <a:moveTo>
                    <a:pt x="0" y="0"/>
                  </a:moveTo>
                  <a:lnTo>
                    <a:pt x="232718" y="0"/>
                  </a:lnTo>
                  <a:lnTo>
                    <a:pt x="232718" y="233568"/>
                  </a:lnTo>
                  <a:lnTo>
                    <a:pt x="0" y="233568"/>
                  </a:lnTo>
                  <a:lnTo>
                    <a:pt x="0" y="0"/>
                  </a:lnTo>
                  <a:close/>
                </a:path>
              </a:pathLst>
            </a:custGeom>
            <a:blipFill>
              <a:blip r:embed="rId8">
                <a:alphaModFix amt="19999"/>
                <a:extLst>
                  <a:ext uri="{96DAC541-7B7A-43D3-8B79-37D633B846F1}">
                    <asvg:svgBlip xmlns="" xmlns:asvg="http://schemas.microsoft.com/office/drawing/2016/SVG/main" r:embed="rId9"/>
                  </a:ext>
                </a:extLst>
              </a:blip>
              <a:stretch>
                <a:fillRect l="-638766" t="-469622" r="-81317" b="-377741"/>
              </a:stretch>
            </a:blipFill>
          </p:spPr>
        </p:sp>
        <p:sp>
          <p:nvSpPr>
            <p:cNvPr id="9" name="Freeform 9"/>
            <p:cNvSpPr/>
            <p:nvPr/>
          </p:nvSpPr>
          <p:spPr>
            <a:xfrm>
              <a:off x="3675805" y="799359"/>
              <a:ext cx="232718" cy="232718"/>
            </a:xfrm>
            <a:custGeom>
              <a:avLst/>
              <a:gdLst/>
              <a:ahLst/>
              <a:cxnLst/>
              <a:rect l="l" t="t" r="r" b="b"/>
              <a:pathLst>
                <a:path w="232718" h="232718">
                  <a:moveTo>
                    <a:pt x="0" y="0"/>
                  </a:moveTo>
                  <a:lnTo>
                    <a:pt x="232718" y="0"/>
                  </a:lnTo>
                  <a:lnTo>
                    <a:pt x="232718" y="232719"/>
                  </a:lnTo>
                  <a:lnTo>
                    <a:pt x="0" y="232719"/>
                  </a:lnTo>
                  <a:lnTo>
                    <a:pt x="0" y="0"/>
                  </a:lnTo>
                  <a:close/>
                </a:path>
              </a:pathLst>
            </a:custGeom>
            <a:blipFill>
              <a:blip r:embed="rId10">
                <a:alphaModFix amt="19999"/>
                <a:extLst>
                  <a:ext uri="{96DAC541-7B7A-43D3-8B79-37D633B846F1}">
                    <asvg:svgBlip xmlns="" xmlns:asvg="http://schemas.microsoft.com/office/drawing/2016/SVG/main" r:embed="rId11"/>
                  </a:ext>
                </a:extLst>
              </a:blip>
              <a:stretch>
                <a:fillRect l="-543953" t="-641085" r="-139663" b="-69902"/>
              </a:stretch>
            </a:blipFill>
          </p:spPr>
        </p:sp>
        <p:sp>
          <p:nvSpPr>
            <p:cNvPr id="10" name="Freeform 10"/>
            <p:cNvSpPr/>
            <p:nvPr/>
          </p:nvSpPr>
          <p:spPr>
            <a:xfrm>
              <a:off x="735161" y="522"/>
              <a:ext cx="232718" cy="232315"/>
            </a:xfrm>
            <a:custGeom>
              <a:avLst/>
              <a:gdLst/>
              <a:ahLst/>
              <a:cxnLst/>
              <a:rect l="l" t="t" r="r" b="b"/>
              <a:pathLst>
                <a:path w="232718" h="232315">
                  <a:moveTo>
                    <a:pt x="0" y="0"/>
                  </a:moveTo>
                  <a:lnTo>
                    <a:pt x="232718" y="0"/>
                  </a:lnTo>
                  <a:lnTo>
                    <a:pt x="232718" y="232315"/>
                  </a:lnTo>
                  <a:lnTo>
                    <a:pt x="0" y="232315"/>
                  </a:lnTo>
                  <a:lnTo>
                    <a:pt x="0" y="0"/>
                  </a:lnTo>
                  <a:close/>
                </a:path>
              </a:pathLst>
            </a:custGeom>
            <a:blipFill>
              <a:blip r:embed="rId12">
                <a:alphaModFix amt="19999"/>
                <a:extLst>
                  <a:ext uri="{96DAC541-7B7A-43D3-8B79-37D633B846F1}">
                    <asvg:svgBlip xmlns="" xmlns:asvg="http://schemas.microsoft.com/office/drawing/2016/SVG/main" r:embed="rId13"/>
                  </a:ext>
                </a:extLst>
              </a:blip>
              <a:stretch>
                <a:fillRect l="-470127" t="-421608" r="-123715" b="-173438"/>
              </a:stretch>
            </a:blipFill>
          </p:spPr>
        </p:sp>
        <p:sp>
          <p:nvSpPr>
            <p:cNvPr id="11" name="Freeform 11"/>
            <p:cNvSpPr/>
            <p:nvPr/>
          </p:nvSpPr>
          <p:spPr>
            <a:xfrm>
              <a:off x="2205483" y="354"/>
              <a:ext cx="232718" cy="232718"/>
            </a:xfrm>
            <a:custGeom>
              <a:avLst/>
              <a:gdLst/>
              <a:ahLst/>
              <a:cxnLst/>
              <a:rect l="l" t="t" r="r" b="b"/>
              <a:pathLst>
                <a:path w="232718" h="232718">
                  <a:moveTo>
                    <a:pt x="0" y="0"/>
                  </a:moveTo>
                  <a:lnTo>
                    <a:pt x="232718" y="0"/>
                  </a:lnTo>
                  <a:lnTo>
                    <a:pt x="232718" y="232718"/>
                  </a:lnTo>
                  <a:lnTo>
                    <a:pt x="0" y="232718"/>
                  </a:lnTo>
                  <a:lnTo>
                    <a:pt x="0" y="0"/>
                  </a:lnTo>
                  <a:close/>
                </a:path>
              </a:pathLst>
            </a:custGeom>
            <a:blipFill>
              <a:blip r:embed="rId14">
                <a:alphaModFix amt="19999"/>
                <a:extLst>
                  <a:ext uri="{96DAC541-7B7A-43D3-8B79-37D633B846F1}">
                    <asvg:svgBlip xmlns="" xmlns:asvg="http://schemas.microsoft.com/office/drawing/2016/SVG/main" r:embed="rId15"/>
                  </a:ext>
                </a:extLst>
              </a:blip>
              <a:stretch>
                <a:fillRect l="-306898" t="-56319" r="-124557" b="-403107"/>
              </a:stretch>
            </a:blipFill>
          </p:spPr>
        </p:sp>
        <p:sp>
          <p:nvSpPr>
            <p:cNvPr id="12" name="Freeform 12"/>
            <p:cNvSpPr/>
            <p:nvPr/>
          </p:nvSpPr>
          <p:spPr>
            <a:xfrm>
              <a:off x="3675805" y="354"/>
              <a:ext cx="232718" cy="232718"/>
            </a:xfrm>
            <a:custGeom>
              <a:avLst/>
              <a:gdLst/>
              <a:ahLst/>
              <a:cxnLst/>
              <a:rect l="l" t="t" r="r" b="b"/>
              <a:pathLst>
                <a:path w="232718" h="232718">
                  <a:moveTo>
                    <a:pt x="0" y="0"/>
                  </a:moveTo>
                  <a:lnTo>
                    <a:pt x="232718" y="0"/>
                  </a:lnTo>
                  <a:lnTo>
                    <a:pt x="232718" y="232718"/>
                  </a:lnTo>
                  <a:lnTo>
                    <a:pt x="0" y="232718"/>
                  </a:lnTo>
                  <a:lnTo>
                    <a:pt x="0" y="0"/>
                  </a:lnTo>
                  <a:close/>
                </a:path>
              </a:pathLst>
            </a:custGeom>
            <a:blipFill>
              <a:blip r:embed="rId16">
                <a:alphaModFix amt="19999"/>
                <a:extLst>
                  <a:ext uri="{96DAC541-7B7A-43D3-8B79-37D633B846F1}">
                    <asvg:svgBlip xmlns="" xmlns:asvg="http://schemas.microsoft.com/office/drawing/2016/SVG/main" r:embed="rId17"/>
                  </a:ext>
                </a:extLst>
              </a:blip>
              <a:stretch>
                <a:fillRect l="-85460" t="-85441" r="-503456" b="-503475"/>
              </a:stretch>
            </a:blipFill>
          </p:spPr>
        </p:sp>
        <p:sp>
          <p:nvSpPr>
            <p:cNvPr id="13" name="Freeform 13"/>
            <p:cNvSpPr/>
            <p:nvPr/>
          </p:nvSpPr>
          <p:spPr>
            <a:xfrm>
              <a:off x="0" y="799359"/>
              <a:ext cx="232718" cy="232718"/>
            </a:xfrm>
            <a:custGeom>
              <a:avLst/>
              <a:gdLst/>
              <a:ahLst/>
              <a:cxnLst/>
              <a:rect l="l" t="t" r="r" b="b"/>
              <a:pathLst>
                <a:path w="232718" h="232718">
                  <a:moveTo>
                    <a:pt x="0" y="0"/>
                  </a:moveTo>
                  <a:lnTo>
                    <a:pt x="232718" y="0"/>
                  </a:lnTo>
                  <a:lnTo>
                    <a:pt x="232718" y="232719"/>
                  </a:lnTo>
                  <a:lnTo>
                    <a:pt x="0" y="232719"/>
                  </a:lnTo>
                  <a:lnTo>
                    <a:pt x="0" y="0"/>
                  </a:lnTo>
                  <a:close/>
                </a:path>
              </a:pathLst>
            </a:custGeom>
            <a:blipFill>
              <a:blip r:embed="rId18">
                <a:alphaModFix amt="19999"/>
                <a:extLst>
                  <a:ext uri="{96DAC541-7B7A-43D3-8B79-37D633B846F1}">
                    <asvg:svgBlip xmlns="" xmlns:asvg="http://schemas.microsoft.com/office/drawing/2016/SVG/main" r:embed="rId19"/>
                  </a:ext>
                </a:extLst>
              </a:blip>
              <a:stretch>
                <a:fillRect l="-468660" t="-344973" r="-122978" b="-172314"/>
              </a:stretch>
            </a:blipFill>
          </p:spPr>
        </p:sp>
        <p:sp>
          <p:nvSpPr>
            <p:cNvPr id="14" name="Freeform 14"/>
            <p:cNvSpPr/>
            <p:nvPr/>
          </p:nvSpPr>
          <p:spPr>
            <a:xfrm>
              <a:off x="735161" y="799138"/>
              <a:ext cx="232718" cy="233251"/>
            </a:xfrm>
            <a:custGeom>
              <a:avLst/>
              <a:gdLst/>
              <a:ahLst/>
              <a:cxnLst/>
              <a:rect l="l" t="t" r="r" b="b"/>
              <a:pathLst>
                <a:path w="232718" h="233251">
                  <a:moveTo>
                    <a:pt x="0" y="0"/>
                  </a:moveTo>
                  <a:lnTo>
                    <a:pt x="232718" y="0"/>
                  </a:lnTo>
                  <a:lnTo>
                    <a:pt x="232718" y="233250"/>
                  </a:lnTo>
                  <a:lnTo>
                    <a:pt x="0" y="233250"/>
                  </a:lnTo>
                  <a:lnTo>
                    <a:pt x="0" y="0"/>
                  </a:lnTo>
                  <a:close/>
                </a:path>
              </a:pathLst>
            </a:custGeom>
            <a:blipFill>
              <a:blip r:embed="rId20">
                <a:alphaModFix amt="19999"/>
                <a:extLst>
                  <a:ext uri="{96DAC541-7B7A-43D3-8B79-37D633B846F1}">
                    <asvg:svgBlip xmlns="" xmlns:asvg="http://schemas.microsoft.com/office/drawing/2016/SVG/main" r:embed="rId21"/>
                  </a:ext>
                </a:extLst>
              </a:blip>
              <a:stretch>
                <a:fillRect l="-320832" t="-278811" r="-40455" b="-81423"/>
              </a:stretch>
            </a:blipFill>
          </p:spPr>
        </p:sp>
        <p:sp>
          <p:nvSpPr>
            <p:cNvPr id="15" name="Freeform 15"/>
            <p:cNvSpPr/>
            <p:nvPr/>
          </p:nvSpPr>
          <p:spPr>
            <a:xfrm>
              <a:off x="2940644" y="798850"/>
              <a:ext cx="232718" cy="233940"/>
            </a:xfrm>
            <a:custGeom>
              <a:avLst/>
              <a:gdLst/>
              <a:ahLst/>
              <a:cxnLst/>
              <a:rect l="l" t="t" r="r" b="b"/>
              <a:pathLst>
                <a:path w="232718" h="233940">
                  <a:moveTo>
                    <a:pt x="0" y="0"/>
                  </a:moveTo>
                  <a:lnTo>
                    <a:pt x="232718" y="0"/>
                  </a:lnTo>
                  <a:lnTo>
                    <a:pt x="232718" y="233940"/>
                  </a:lnTo>
                  <a:lnTo>
                    <a:pt x="0" y="233940"/>
                  </a:lnTo>
                  <a:lnTo>
                    <a:pt x="0" y="0"/>
                  </a:lnTo>
                  <a:close/>
                </a:path>
              </a:pathLst>
            </a:custGeom>
            <a:blipFill>
              <a:blip r:embed="rId22">
                <a:alphaModFix amt="19999"/>
                <a:extLst>
                  <a:ext uri="{96DAC541-7B7A-43D3-8B79-37D633B846F1}">
                    <asvg:svgBlip xmlns="" xmlns:asvg="http://schemas.microsoft.com/office/drawing/2016/SVG/main" r:embed="rId23"/>
                  </a:ext>
                </a:extLst>
              </a:blip>
              <a:stretch>
                <a:fillRect l="-456846" t="-60785" r="-135515" b="-527961"/>
              </a:stretch>
            </a:blipFill>
          </p:spPr>
        </p:sp>
        <p:sp>
          <p:nvSpPr>
            <p:cNvPr id="16" name="Freeform 16"/>
            <p:cNvSpPr/>
            <p:nvPr/>
          </p:nvSpPr>
          <p:spPr>
            <a:xfrm>
              <a:off x="0" y="1643"/>
              <a:ext cx="232718" cy="229624"/>
            </a:xfrm>
            <a:custGeom>
              <a:avLst/>
              <a:gdLst/>
              <a:ahLst/>
              <a:cxnLst/>
              <a:rect l="l" t="t" r="r" b="b"/>
              <a:pathLst>
                <a:path w="232718" h="229624">
                  <a:moveTo>
                    <a:pt x="0" y="0"/>
                  </a:moveTo>
                  <a:lnTo>
                    <a:pt x="232718" y="0"/>
                  </a:lnTo>
                  <a:lnTo>
                    <a:pt x="232718" y="229624"/>
                  </a:lnTo>
                  <a:lnTo>
                    <a:pt x="0" y="229624"/>
                  </a:lnTo>
                  <a:lnTo>
                    <a:pt x="0" y="0"/>
                  </a:lnTo>
                  <a:close/>
                </a:path>
              </a:pathLst>
            </a:custGeom>
            <a:blipFill>
              <a:blip r:embed="rId24">
                <a:alphaModFix amt="19999"/>
                <a:extLst>
                  <a:ext uri="{96DAC541-7B7A-43D3-8B79-37D633B846F1}">
                    <asvg:svgBlip xmlns="" xmlns:asvg="http://schemas.microsoft.com/office/drawing/2016/SVG/main" r:embed="rId25"/>
                  </a:ext>
                </a:extLst>
              </a:blip>
              <a:stretch>
                <a:fillRect l="-492466" t="-104900" r="-217722" b="-616207"/>
              </a:stretch>
            </a:blipFill>
          </p:spPr>
        </p:sp>
        <p:sp>
          <p:nvSpPr>
            <p:cNvPr id="17" name="Freeform 17"/>
            <p:cNvSpPr/>
            <p:nvPr/>
          </p:nvSpPr>
          <p:spPr>
            <a:xfrm>
              <a:off x="2205483" y="799359"/>
              <a:ext cx="232718" cy="232718"/>
            </a:xfrm>
            <a:custGeom>
              <a:avLst/>
              <a:gdLst/>
              <a:ahLst/>
              <a:cxnLst/>
              <a:rect l="l" t="t" r="r" b="b"/>
              <a:pathLst>
                <a:path w="232718" h="232718">
                  <a:moveTo>
                    <a:pt x="0" y="0"/>
                  </a:moveTo>
                  <a:lnTo>
                    <a:pt x="232718" y="0"/>
                  </a:lnTo>
                  <a:lnTo>
                    <a:pt x="232718" y="232719"/>
                  </a:lnTo>
                  <a:lnTo>
                    <a:pt x="0" y="232719"/>
                  </a:lnTo>
                  <a:lnTo>
                    <a:pt x="0" y="0"/>
                  </a:lnTo>
                  <a:close/>
                </a:path>
              </a:pathLst>
            </a:custGeom>
            <a:blipFill>
              <a:blip r:embed="rId26">
                <a:alphaModFix amt="19999"/>
                <a:extLst>
                  <a:ext uri="{96DAC541-7B7A-43D3-8B79-37D633B846F1}">
                    <asvg:svgBlip xmlns="" xmlns:asvg="http://schemas.microsoft.com/office/drawing/2016/SVG/main" r:embed="rId27"/>
                  </a:ext>
                </a:extLst>
              </a:blip>
              <a:stretch>
                <a:fillRect l="-605518" t="-68326" r="-226411" b="-717008"/>
              </a:stretch>
            </a:blipFill>
          </p:spPr>
        </p:sp>
        <p:sp>
          <p:nvSpPr>
            <p:cNvPr id="18" name="Freeform 18"/>
            <p:cNvSpPr/>
            <p:nvPr/>
          </p:nvSpPr>
          <p:spPr>
            <a:xfrm>
              <a:off x="1470322" y="799103"/>
              <a:ext cx="232718" cy="233334"/>
            </a:xfrm>
            <a:custGeom>
              <a:avLst/>
              <a:gdLst/>
              <a:ahLst/>
              <a:cxnLst/>
              <a:rect l="l" t="t" r="r" b="b"/>
              <a:pathLst>
                <a:path w="232718" h="233334">
                  <a:moveTo>
                    <a:pt x="0" y="0"/>
                  </a:moveTo>
                  <a:lnTo>
                    <a:pt x="232718" y="0"/>
                  </a:lnTo>
                  <a:lnTo>
                    <a:pt x="232718" y="233334"/>
                  </a:lnTo>
                  <a:lnTo>
                    <a:pt x="0" y="233334"/>
                  </a:lnTo>
                  <a:lnTo>
                    <a:pt x="0" y="0"/>
                  </a:lnTo>
                  <a:close/>
                </a:path>
              </a:pathLst>
            </a:custGeom>
            <a:blipFill>
              <a:blip r:embed="rId28">
                <a:alphaModFix amt="19999"/>
                <a:extLst>
                  <a:ext uri="{96DAC541-7B7A-43D3-8B79-37D633B846F1}">
                    <asvg:svgBlip xmlns="" xmlns:asvg="http://schemas.microsoft.com/office/drawing/2016/SVG/main" r:embed="rId29"/>
                  </a:ext>
                </a:extLst>
              </a:blip>
              <a:stretch>
                <a:fillRect l="-527907" t="-465593" r="-164378" b="-211761"/>
              </a:stretch>
            </a:blipFill>
          </p:spPr>
        </p:sp>
      </p:grpSp>
      <p:grpSp>
        <p:nvGrpSpPr>
          <p:cNvPr id="19" name="Group 19"/>
          <p:cNvGrpSpPr/>
          <p:nvPr/>
        </p:nvGrpSpPr>
        <p:grpSpPr>
          <a:xfrm>
            <a:off x="13310234" y="4757568"/>
            <a:ext cx="6883716" cy="6883716"/>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0"/>
              <a:stretch>
                <a:fillRect l="-24931" r="-24931"/>
              </a:stretch>
            </a:blipFill>
            <a:ln w="238125" cap="sq">
              <a:solidFill>
                <a:srgbClr val="003F88"/>
              </a:solidFill>
              <a:prstDash val="solid"/>
              <a:miter/>
            </a:ln>
          </p:spPr>
        </p:sp>
      </p:grpSp>
      <p:sp>
        <p:nvSpPr>
          <p:cNvPr id="21" name="TextBox 21"/>
          <p:cNvSpPr txBox="1"/>
          <p:nvPr/>
        </p:nvSpPr>
        <p:spPr>
          <a:xfrm>
            <a:off x="184435" y="3450221"/>
            <a:ext cx="11032427" cy="5539978"/>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Ruby is a pure object oriented language. All things are treated like an object and this brings conceptual consistency.</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Dynamic typing also enhances flexibility and speed in the prototyping process, particularly in the face of changing requirements (</a:t>
            </a:r>
            <a:r>
              <a:rPr lang="en-US" sz="4000" dirty="0" err="1">
                <a:latin typeface="Times New Roman" panose="02020603050405020304" pitchFamily="18" charset="0"/>
                <a:cs typeface="Times New Roman" panose="02020603050405020304" pitchFamily="18" charset="0"/>
              </a:rPr>
              <a:t>Akbarpour</a:t>
            </a:r>
            <a:r>
              <a:rPr lang="en-US" sz="4000" dirty="0">
                <a:latin typeface="Times New Roman" panose="02020603050405020304" pitchFamily="18" charset="0"/>
                <a:cs typeface="Times New Roman" panose="02020603050405020304" pitchFamily="18" charset="0"/>
              </a:rPr>
              <a:t> et al., 2025).</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Blocks, iterators and metaprogramming make ruby to be concise and powerful.</a:t>
            </a:r>
            <a:endParaRPr lang="en-US" sz="4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rot="-10182959">
            <a:off x="10242478" y="-448031"/>
            <a:ext cx="10334074" cy="10544974"/>
          </a:xfrm>
          <a:custGeom>
            <a:avLst/>
            <a:gdLst/>
            <a:ahLst/>
            <a:cxnLst/>
            <a:rect l="l" t="t" r="r" b="b"/>
            <a:pathLst>
              <a:path w="10334074" h="10544974">
                <a:moveTo>
                  <a:pt x="0" y="0"/>
                </a:moveTo>
                <a:lnTo>
                  <a:pt x="10334074" y="0"/>
                </a:lnTo>
                <a:lnTo>
                  <a:pt x="10334074" y="10544973"/>
                </a:lnTo>
                <a:lnTo>
                  <a:pt x="0" y="1054497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txBody>
          <a:bodyPr/>
          <a:lstStyle/>
          <a:p>
            <a:endParaRPr lang="en-US"/>
          </a:p>
        </p:txBody>
      </p:sp>
      <p:sp>
        <p:nvSpPr>
          <p:cNvPr id="3" name="TextBox 3"/>
          <p:cNvSpPr txBox="1"/>
          <p:nvPr/>
        </p:nvSpPr>
        <p:spPr>
          <a:xfrm>
            <a:off x="1424454" y="633643"/>
            <a:ext cx="12672546" cy="923330"/>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Ruby in Web Development</a:t>
            </a:r>
            <a:endParaRPr lang="en-US" sz="6000" dirty="0">
              <a:latin typeface="Times New Roman" panose="02020603050405020304" pitchFamily="18" charset="0"/>
              <a:cs typeface="Times New Roman" panose="02020603050405020304" pitchFamily="18" charset="0"/>
            </a:endParaRPr>
          </a:p>
        </p:txBody>
      </p:sp>
      <p:sp>
        <p:nvSpPr>
          <p:cNvPr id="14" name="TextBox 14"/>
          <p:cNvSpPr txBox="1"/>
          <p:nvPr/>
        </p:nvSpPr>
        <p:spPr>
          <a:xfrm>
            <a:off x="9019874" y="6543272"/>
            <a:ext cx="6284043" cy="461088"/>
          </a:xfrm>
          <a:prstGeom prst="rect">
            <a:avLst/>
          </a:prstGeom>
        </p:spPr>
        <p:txBody>
          <a:bodyPr lIns="0" tIns="0" rIns="0" bIns="0" rtlCol="0" anchor="t">
            <a:spAutoFit/>
          </a:bodyPr>
          <a:lstStyle/>
          <a:p>
            <a:pPr algn="just">
              <a:lnSpc>
                <a:spcPts val="3919"/>
              </a:lnSpc>
            </a:pPr>
            <a:endParaRPr lang="en-US" sz="2799" b="1" dirty="0">
              <a:solidFill>
                <a:srgbClr val="00296B"/>
              </a:solidFill>
              <a:latin typeface="Inter Semi-Bold"/>
              <a:ea typeface="Inter Semi-Bold"/>
              <a:cs typeface="Inter Semi-Bold"/>
              <a:sym typeface="Inter Semi-Bold"/>
            </a:endParaRPr>
          </a:p>
        </p:txBody>
      </p:sp>
      <p:sp>
        <p:nvSpPr>
          <p:cNvPr id="15" name="TextBox 15"/>
          <p:cNvSpPr txBox="1"/>
          <p:nvPr/>
        </p:nvSpPr>
        <p:spPr>
          <a:xfrm>
            <a:off x="381000" y="2247900"/>
            <a:ext cx="13716000" cy="7386638"/>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most practical contribution was the use of Ruby on Rails which was particularly useful in the fast development of web applications by Ruby.</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Rails made popular a philosophy of convention over configuration, enabling developers to implement business logic instead of configuration complexity (</a:t>
            </a:r>
            <a:r>
              <a:rPr lang="en-US" sz="4000" dirty="0" err="1">
                <a:latin typeface="Times New Roman" panose="02020603050405020304" pitchFamily="18" charset="0"/>
                <a:cs typeface="Times New Roman" panose="02020603050405020304" pitchFamily="18" charset="0"/>
              </a:rPr>
              <a:t>Tripathi</a:t>
            </a:r>
            <a:r>
              <a:rPr lang="en-US" sz="4000" dirty="0">
                <a:latin typeface="Times New Roman" panose="02020603050405020304" pitchFamily="18" charset="0"/>
                <a:cs typeface="Times New Roman" panose="02020603050405020304" pitchFamily="18" charset="0"/>
              </a:rPr>
              <a:t> et al., 2024).</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This causes Ruby to be very efficient in startups, MVPs and prototype driven environments.</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Ruby is able to beat the time to market factor where infrastructural level </a:t>
            </a:r>
            <a:r>
              <a:rPr lang="en-US" sz="4000" dirty="0" err="1">
                <a:latin typeface="Times New Roman" panose="02020603050405020304" pitchFamily="18" charset="0"/>
                <a:cs typeface="Times New Roman" panose="02020603050405020304" pitchFamily="18" charset="0"/>
              </a:rPr>
              <a:t>optimisation</a:t>
            </a:r>
            <a:r>
              <a:rPr lang="en-US" sz="4000" dirty="0">
                <a:latin typeface="Times New Roman" panose="02020603050405020304" pitchFamily="18" charset="0"/>
                <a:cs typeface="Times New Roman" panose="02020603050405020304" pitchFamily="18" charset="0"/>
              </a:rPr>
              <a:t> is not so crucial and development efficiency may be more crucial than the execution efficiency</a:t>
            </a:r>
            <a:r>
              <a:rPr lang="en-US" sz="4000" dirty="0" smtClean="0">
                <a:latin typeface="Times New Roman" panose="02020603050405020304" pitchFamily="18" charset="0"/>
                <a:cs typeface="Times New Roman" panose="02020603050405020304" pitchFamily="18" charset="0"/>
              </a:rPr>
              <a:t>.</a:t>
            </a:r>
            <a:endParaRPr lang="en-US" sz="4000" dirty="0">
              <a:solidFill>
                <a:srgbClr val="000000"/>
              </a:solidFill>
              <a:latin typeface="Times New Roman" panose="02020603050405020304" pitchFamily="18" charset="0"/>
              <a:ea typeface="Inter"/>
              <a:cs typeface="Times New Roman" panose="02020603050405020304" pitchFamily="18" charset="0"/>
              <a:sym typeface="Inter"/>
            </a:endParaRPr>
          </a:p>
        </p:txBody>
      </p:sp>
      <p:grpSp>
        <p:nvGrpSpPr>
          <p:cNvPr id="16" name="Group 16"/>
          <p:cNvGrpSpPr/>
          <p:nvPr/>
        </p:nvGrpSpPr>
        <p:grpSpPr>
          <a:xfrm>
            <a:off x="15604647" y="8525418"/>
            <a:ext cx="1985849" cy="2141290"/>
            <a:chOff x="0" y="0"/>
            <a:chExt cx="2647799" cy="2855053"/>
          </a:xfrm>
        </p:grpSpPr>
        <p:sp>
          <p:nvSpPr>
            <p:cNvPr id="17" name="Freeform 17"/>
            <p:cNvSpPr/>
            <p:nvPr/>
          </p:nvSpPr>
          <p:spPr>
            <a:xfrm>
              <a:off x="2395075" y="866675"/>
              <a:ext cx="252724" cy="252724"/>
            </a:xfrm>
            <a:custGeom>
              <a:avLst/>
              <a:gdLst/>
              <a:ahLst/>
              <a:cxnLst/>
              <a:rect l="l" t="t" r="r" b="b"/>
              <a:pathLst>
                <a:path w="252724" h="252724">
                  <a:moveTo>
                    <a:pt x="0" y="0"/>
                  </a:moveTo>
                  <a:lnTo>
                    <a:pt x="252724" y="0"/>
                  </a:lnTo>
                  <a:lnTo>
                    <a:pt x="252724" y="252724"/>
                  </a:lnTo>
                  <a:lnTo>
                    <a:pt x="0" y="252724"/>
                  </a:lnTo>
                  <a:lnTo>
                    <a:pt x="0" y="0"/>
                  </a:lnTo>
                  <a:close/>
                </a:path>
              </a:pathLst>
            </a:custGeom>
            <a:blipFill>
              <a:blip r:embed="rId5">
                <a:alphaModFix amt="19999"/>
                <a:extLst>
                  <a:ext uri="{96DAC541-7B7A-43D3-8B79-37D633B846F1}">
                    <asvg:svgBlip xmlns="" xmlns:asvg="http://schemas.microsoft.com/office/drawing/2016/SVG/main" r:embed="rId7"/>
                  </a:ext>
                </a:extLst>
              </a:blip>
              <a:stretch>
                <a:fillRect l="-526144" t="-65277" r="-295656" b="-559488"/>
              </a:stretch>
            </a:blipFill>
          </p:spPr>
        </p:sp>
        <p:sp>
          <p:nvSpPr>
            <p:cNvPr id="18" name="Freeform 18"/>
            <p:cNvSpPr/>
            <p:nvPr/>
          </p:nvSpPr>
          <p:spPr>
            <a:xfrm>
              <a:off x="0" y="1734035"/>
              <a:ext cx="252724" cy="251885"/>
            </a:xfrm>
            <a:custGeom>
              <a:avLst/>
              <a:gdLst/>
              <a:ahLst/>
              <a:cxnLst/>
              <a:rect l="l" t="t" r="r" b="b"/>
              <a:pathLst>
                <a:path w="252724" h="251885">
                  <a:moveTo>
                    <a:pt x="0" y="0"/>
                  </a:moveTo>
                  <a:lnTo>
                    <a:pt x="252724" y="0"/>
                  </a:lnTo>
                  <a:lnTo>
                    <a:pt x="252724" y="251885"/>
                  </a:lnTo>
                  <a:lnTo>
                    <a:pt x="0" y="251885"/>
                  </a:lnTo>
                  <a:lnTo>
                    <a:pt x="0" y="0"/>
                  </a:lnTo>
                  <a:close/>
                </a:path>
              </a:pathLst>
            </a:custGeom>
            <a:blipFill>
              <a:blip r:embed="rId8">
                <a:alphaModFix amt="19999"/>
                <a:extLst>
                  <a:ext uri="{96DAC541-7B7A-43D3-8B79-37D633B846F1}">
                    <asvg:svgBlip xmlns="" xmlns:asvg="http://schemas.microsoft.com/office/drawing/2016/SVG/main" r:embed="rId9"/>
                  </a:ext>
                </a:extLst>
              </a:blip>
              <a:stretch>
                <a:fillRect l="-196132" t="-68559" r="-196277" b="-384996"/>
              </a:stretch>
            </a:blipFill>
          </p:spPr>
        </p:sp>
        <p:sp>
          <p:nvSpPr>
            <p:cNvPr id="19" name="Freeform 19"/>
            <p:cNvSpPr/>
            <p:nvPr/>
          </p:nvSpPr>
          <p:spPr>
            <a:xfrm>
              <a:off x="798358" y="198"/>
              <a:ext cx="252724" cy="252250"/>
            </a:xfrm>
            <a:custGeom>
              <a:avLst/>
              <a:gdLst/>
              <a:ahLst/>
              <a:cxnLst/>
              <a:rect l="l" t="t" r="r" b="b"/>
              <a:pathLst>
                <a:path w="252724" h="252250">
                  <a:moveTo>
                    <a:pt x="0" y="0"/>
                  </a:moveTo>
                  <a:lnTo>
                    <a:pt x="252724" y="0"/>
                  </a:lnTo>
                  <a:lnTo>
                    <a:pt x="252724" y="252249"/>
                  </a:lnTo>
                  <a:lnTo>
                    <a:pt x="0" y="252249"/>
                  </a:lnTo>
                  <a:lnTo>
                    <a:pt x="0" y="0"/>
                  </a:lnTo>
                  <a:close/>
                </a:path>
              </a:pathLst>
            </a:custGeom>
            <a:blipFill>
              <a:blip r:embed="rId10">
                <a:alphaModFix amt="19999"/>
                <a:extLst>
                  <a:ext uri="{96DAC541-7B7A-43D3-8B79-37D633B846F1}">
                    <asvg:svgBlip xmlns="" xmlns:asvg="http://schemas.microsoft.com/office/drawing/2016/SVG/main" r:embed="rId11"/>
                  </a:ext>
                </a:extLst>
              </a:blip>
              <a:stretch>
                <a:fillRect l="-196210" t="-65053" r="-622797" b="-755681"/>
              </a:stretch>
            </a:blipFill>
          </p:spPr>
        </p:sp>
        <p:sp>
          <p:nvSpPr>
            <p:cNvPr id="20" name="Freeform 20"/>
            <p:cNvSpPr/>
            <p:nvPr/>
          </p:nvSpPr>
          <p:spPr>
            <a:xfrm>
              <a:off x="798358" y="2600696"/>
              <a:ext cx="252724" cy="254357"/>
            </a:xfrm>
            <a:custGeom>
              <a:avLst/>
              <a:gdLst/>
              <a:ahLst/>
              <a:cxnLst/>
              <a:rect l="l" t="t" r="r" b="b"/>
              <a:pathLst>
                <a:path w="252724" h="254357">
                  <a:moveTo>
                    <a:pt x="0" y="0"/>
                  </a:moveTo>
                  <a:lnTo>
                    <a:pt x="252724" y="0"/>
                  </a:lnTo>
                  <a:lnTo>
                    <a:pt x="252724" y="254357"/>
                  </a:lnTo>
                  <a:lnTo>
                    <a:pt x="0" y="254357"/>
                  </a:lnTo>
                  <a:lnTo>
                    <a:pt x="0" y="0"/>
                  </a:lnTo>
                  <a:close/>
                </a:path>
              </a:pathLst>
            </a:custGeom>
            <a:blipFill>
              <a:blip r:embed="rId12">
                <a:alphaModFix amt="19999"/>
                <a:extLst>
                  <a:ext uri="{96DAC541-7B7A-43D3-8B79-37D633B846F1}">
                    <asvg:svgBlip xmlns="" xmlns:asvg="http://schemas.microsoft.com/office/drawing/2016/SVG/main" r:embed="rId13"/>
                  </a:ext>
                </a:extLst>
              </a:blip>
              <a:stretch>
                <a:fillRect l="-596107" t="-296016" b="-295620"/>
              </a:stretch>
            </a:blipFill>
          </p:spPr>
        </p:sp>
        <p:sp>
          <p:nvSpPr>
            <p:cNvPr id="21" name="Freeform 21"/>
            <p:cNvSpPr/>
            <p:nvPr/>
          </p:nvSpPr>
          <p:spPr>
            <a:xfrm>
              <a:off x="1596717" y="0"/>
              <a:ext cx="252724" cy="252724"/>
            </a:xfrm>
            <a:custGeom>
              <a:avLst/>
              <a:gdLst/>
              <a:ahLst/>
              <a:cxnLst/>
              <a:rect l="l" t="t" r="r" b="b"/>
              <a:pathLst>
                <a:path w="252724" h="252724">
                  <a:moveTo>
                    <a:pt x="0" y="0"/>
                  </a:moveTo>
                  <a:lnTo>
                    <a:pt x="252724" y="0"/>
                  </a:lnTo>
                  <a:lnTo>
                    <a:pt x="252724" y="252724"/>
                  </a:lnTo>
                  <a:lnTo>
                    <a:pt x="0" y="252724"/>
                  </a:lnTo>
                  <a:lnTo>
                    <a:pt x="0" y="0"/>
                  </a:lnTo>
                  <a:close/>
                </a:path>
              </a:pathLst>
            </a:custGeom>
            <a:blipFill>
              <a:blip r:embed="rId14">
                <a:alphaModFix amt="19999"/>
                <a:extLst>
                  <a:ext uri="{96DAC541-7B7A-43D3-8B79-37D633B846F1}">
                    <asvg:svgBlip xmlns="" xmlns:asvg="http://schemas.microsoft.com/office/drawing/2016/SVG/main" r:embed="rId15"/>
                  </a:ext>
                </a:extLst>
              </a:blip>
              <a:stretch>
                <a:fillRect l="-196465" t="-529594" r="-394514" b="-61386"/>
              </a:stretch>
            </a:blipFill>
          </p:spPr>
        </p:sp>
        <p:sp>
          <p:nvSpPr>
            <p:cNvPr id="22" name="Freeform 22"/>
            <p:cNvSpPr/>
            <p:nvPr/>
          </p:nvSpPr>
          <p:spPr>
            <a:xfrm>
              <a:off x="1596717" y="2601145"/>
              <a:ext cx="252724" cy="253279"/>
            </a:xfrm>
            <a:custGeom>
              <a:avLst/>
              <a:gdLst/>
              <a:ahLst/>
              <a:cxnLst/>
              <a:rect l="l" t="t" r="r" b="b"/>
              <a:pathLst>
                <a:path w="252724" h="253279">
                  <a:moveTo>
                    <a:pt x="0" y="0"/>
                  </a:moveTo>
                  <a:lnTo>
                    <a:pt x="252724" y="0"/>
                  </a:lnTo>
                  <a:lnTo>
                    <a:pt x="252724" y="253280"/>
                  </a:lnTo>
                  <a:lnTo>
                    <a:pt x="0" y="253280"/>
                  </a:lnTo>
                  <a:lnTo>
                    <a:pt x="0" y="0"/>
                  </a:lnTo>
                  <a:close/>
                </a:path>
              </a:pathLst>
            </a:custGeom>
            <a:blipFill>
              <a:blip r:embed="rId16">
                <a:alphaModFix amt="19999"/>
                <a:extLst>
                  <a:ext uri="{96DAC541-7B7A-43D3-8B79-37D633B846F1}">
                    <asvg:svgBlip xmlns="" xmlns:asvg="http://schemas.microsoft.com/office/drawing/2016/SVG/main" r:embed="rId17"/>
                  </a:ext>
                </a:extLst>
              </a:blip>
              <a:stretch>
                <a:fillRect l="-104323" t="-68354" r="-651569" b="-784522"/>
              </a:stretch>
            </a:blipFill>
          </p:spPr>
        </p:sp>
        <p:sp>
          <p:nvSpPr>
            <p:cNvPr id="23" name="Freeform 23"/>
            <p:cNvSpPr/>
            <p:nvPr/>
          </p:nvSpPr>
          <p:spPr>
            <a:xfrm>
              <a:off x="2395075" y="1733112"/>
              <a:ext cx="252724" cy="254101"/>
            </a:xfrm>
            <a:custGeom>
              <a:avLst/>
              <a:gdLst/>
              <a:ahLst/>
              <a:cxnLst/>
              <a:rect l="l" t="t" r="r" b="b"/>
              <a:pathLst>
                <a:path w="252724" h="254101">
                  <a:moveTo>
                    <a:pt x="0" y="0"/>
                  </a:moveTo>
                  <a:lnTo>
                    <a:pt x="252724" y="0"/>
                  </a:lnTo>
                  <a:lnTo>
                    <a:pt x="252724" y="254101"/>
                  </a:lnTo>
                  <a:lnTo>
                    <a:pt x="0" y="254101"/>
                  </a:lnTo>
                  <a:lnTo>
                    <a:pt x="0" y="0"/>
                  </a:lnTo>
                  <a:close/>
                </a:path>
              </a:pathLst>
            </a:custGeom>
            <a:blipFill>
              <a:blip r:embed="rId18">
                <a:alphaModFix amt="19999"/>
                <a:extLst>
                  <a:ext uri="{96DAC541-7B7A-43D3-8B79-37D633B846F1}">
                    <asvg:svgBlip xmlns="" xmlns:asvg="http://schemas.microsoft.com/office/drawing/2016/SVG/main" r:embed="rId19"/>
                  </a:ext>
                </a:extLst>
              </a:blip>
              <a:stretch>
                <a:fillRect l="-98511" t="-65015" r="-653707" b="-780703"/>
              </a:stretch>
            </a:blipFill>
          </p:spPr>
        </p:sp>
        <p:sp>
          <p:nvSpPr>
            <p:cNvPr id="24" name="Freeform 24"/>
            <p:cNvSpPr/>
            <p:nvPr/>
          </p:nvSpPr>
          <p:spPr>
            <a:xfrm>
              <a:off x="0" y="867124"/>
              <a:ext cx="252724" cy="251646"/>
            </a:xfrm>
            <a:custGeom>
              <a:avLst/>
              <a:gdLst/>
              <a:ahLst/>
              <a:cxnLst/>
              <a:rect l="l" t="t" r="r" b="b"/>
              <a:pathLst>
                <a:path w="252724" h="251646">
                  <a:moveTo>
                    <a:pt x="0" y="0"/>
                  </a:moveTo>
                  <a:lnTo>
                    <a:pt x="252724" y="0"/>
                  </a:lnTo>
                  <a:lnTo>
                    <a:pt x="252724" y="251646"/>
                  </a:lnTo>
                  <a:lnTo>
                    <a:pt x="0" y="251646"/>
                  </a:lnTo>
                  <a:lnTo>
                    <a:pt x="0" y="0"/>
                  </a:lnTo>
                  <a:close/>
                </a:path>
              </a:pathLst>
            </a:custGeom>
            <a:blipFill>
              <a:blip r:embed="rId20">
                <a:alphaModFix amt="19999"/>
                <a:extLst>
                  <a:ext uri="{96DAC541-7B7A-43D3-8B79-37D633B846F1}">
                    <asvg:svgBlip xmlns="" xmlns:asvg="http://schemas.microsoft.com/office/drawing/2016/SVG/main" r:embed="rId21"/>
                  </a:ext>
                </a:extLst>
              </a:blip>
              <a:stretch>
                <a:fillRect l="-195868" t="-460480" r="-622732" b="-362054"/>
              </a:stretch>
            </a:blipFill>
          </p:spPr>
        </p:sp>
        <p:sp>
          <p:nvSpPr>
            <p:cNvPr id="25" name="Freeform 25"/>
            <p:cNvSpPr/>
            <p:nvPr/>
          </p:nvSpPr>
          <p:spPr>
            <a:xfrm>
              <a:off x="798358" y="866675"/>
              <a:ext cx="252724" cy="252724"/>
            </a:xfrm>
            <a:custGeom>
              <a:avLst/>
              <a:gdLst/>
              <a:ahLst/>
              <a:cxnLst/>
              <a:rect l="l" t="t" r="r" b="b"/>
              <a:pathLst>
                <a:path w="252724" h="252724">
                  <a:moveTo>
                    <a:pt x="0" y="0"/>
                  </a:moveTo>
                  <a:lnTo>
                    <a:pt x="252724" y="0"/>
                  </a:lnTo>
                  <a:lnTo>
                    <a:pt x="252724" y="252724"/>
                  </a:lnTo>
                  <a:lnTo>
                    <a:pt x="0" y="252724"/>
                  </a:lnTo>
                  <a:lnTo>
                    <a:pt x="0" y="0"/>
                  </a:lnTo>
                  <a:close/>
                </a:path>
              </a:pathLst>
            </a:custGeom>
            <a:blipFill>
              <a:blip r:embed="rId22">
                <a:alphaModFix amt="19999"/>
                <a:extLst>
                  <a:ext uri="{96DAC541-7B7A-43D3-8B79-37D633B846F1}">
                    <asvg:svgBlip xmlns="" xmlns:asvg="http://schemas.microsoft.com/office/drawing/2016/SVG/main" r:embed="rId23"/>
                  </a:ext>
                </a:extLst>
              </a:blip>
              <a:stretch>
                <a:fillRect l="-179916" t="-32145" r="-180335" b="-328107"/>
              </a:stretch>
            </a:blipFill>
          </p:spPr>
        </p:sp>
        <p:sp>
          <p:nvSpPr>
            <p:cNvPr id="26" name="Freeform 26"/>
            <p:cNvSpPr/>
            <p:nvPr/>
          </p:nvSpPr>
          <p:spPr>
            <a:xfrm>
              <a:off x="798358" y="1733686"/>
              <a:ext cx="252724" cy="252724"/>
            </a:xfrm>
            <a:custGeom>
              <a:avLst/>
              <a:gdLst/>
              <a:ahLst/>
              <a:cxnLst/>
              <a:rect l="l" t="t" r="r" b="b"/>
              <a:pathLst>
                <a:path w="252724" h="252724">
                  <a:moveTo>
                    <a:pt x="0" y="0"/>
                  </a:moveTo>
                  <a:lnTo>
                    <a:pt x="252724" y="0"/>
                  </a:lnTo>
                  <a:lnTo>
                    <a:pt x="252724" y="252723"/>
                  </a:lnTo>
                  <a:lnTo>
                    <a:pt x="0" y="252723"/>
                  </a:lnTo>
                  <a:lnTo>
                    <a:pt x="0" y="0"/>
                  </a:lnTo>
                  <a:close/>
                </a:path>
              </a:pathLst>
            </a:custGeom>
            <a:blipFill>
              <a:blip r:embed="rId24">
                <a:alphaModFix amt="19999"/>
                <a:extLst>
                  <a:ext uri="{96DAC541-7B7A-43D3-8B79-37D633B846F1}">
                    <asvg:svgBlip xmlns="" xmlns:asvg="http://schemas.microsoft.com/office/drawing/2016/SVG/main" r:embed="rId25"/>
                  </a:ext>
                </a:extLst>
              </a:blip>
              <a:stretch>
                <a:fillRect l="-596443" t="-202596" r="-128457" b="-571470"/>
              </a:stretch>
            </a:blipFill>
          </p:spPr>
        </p:sp>
        <p:sp>
          <p:nvSpPr>
            <p:cNvPr id="27" name="Freeform 27"/>
            <p:cNvSpPr/>
            <p:nvPr/>
          </p:nvSpPr>
          <p:spPr>
            <a:xfrm>
              <a:off x="1596717" y="866908"/>
              <a:ext cx="252724" cy="252163"/>
            </a:xfrm>
            <a:custGeom>
              <a:avLst/>
              <a:gdLst/>
              <a:ahLst/>
              <a:cxnLst/>
              <a:rect l="l" t="t" r="r" b="b"/>
              <a:pathLst>
                <a:path w="252724" h="252163">
                  <a:moveTo>
                    <a:pt x="0" y="0"/>
                  </a:moveTo>
                  <a:lnTo>
                    <a:pt x="252724" y="0"/>
                  </a:lnTo>
                  <a:lnTo>
                    <a:pt x="252724" y="252164"/>
                  </a:lnTo>
                  <a:lnTo>
                    <a:pt x="0" y="252164"/>
                  </a:lnTo>
                  <a:lnTo>
                    <a:pt x="0" y="0"/>
                  </a:lnTo>
                  <a:close/>
                </a:path>
              </a:pathLst>
            </a:custGeom>
            <a:blipFill>
              <a:blip r:embed="rId26">
                <a:alphaModFix amt="19999"/>
                <a:extLst>
                  <a:ext uri="{96DAC541-7B7A-43D3-8B79-37D633B846F1}">
                    <asvg:svgBlip xmlns="" xmlns:asvg="http://schemas.microsoft.com/office/drawing/2016/SVG/main" r:embed="rId27"/>
                  </a:ext>
                </a:extLst>
              </a:blip>
              <a:stretch>
                <a:fillRect l="-737450" t="-393865" r="-81485" b="-427112"/>
              </a:stretch>
            </a:blipFill>
          </p:spPr>
        </p:sp>
        <p:sp>
          <p:nvSpPr>
            <p:cNvPr id="28" name="Freeform 28"/>
            <p:cNvSpPr/>
            <p:nvPr/>
          </p:nvSpPr>
          <p:spPr>
            <a:xfrm>
              <a:off x="1596717" y="1733878"/>
              <a:ext cx="252724" cy="252262"/>
            </a:xfrm>
            <a:custGeom>
              <a:avLst/>
              <a:gdLst/>
              <a:ahLst/>
              <a:cxnLst/>
              <a:rect l="l" t="t" r="r" b="b"/>
              <a:pathLst>
                <a:path w="252724" h="252262">
                  <a:moveTo>
                    <a:pt x="0" y="0"/>
                  </a:moveTo>
                  <a:lnTo>
                    <a:pt x="252724" y="0"/>
                  </a:lnTo>
                  <a:lnTo>
                    <a:pt x="252724" y="252262"/>
                  </a:lnTo>
                  <a:lnTo>
                    <a:pt x="0" y="252262"/>
                  </a:lnTo>
                  <a:lnTo>
                    <a:pt x="0" y="0"/>
                  </a:lnTo>
                  <a:close/>
                </a:path>
              </a:pathLst>
            </a:custGeom>
            <a:blipFill>
              <a:blip r:embed="rId28">
                <a:alphaModFix amt="19999"/>
                <a:extLst>
                  <a:ext uri="{96DAC541-7B7A-43D3-8B79-37D633B846F1}">
                    <asvg:svgBlip xmlns="" xmlns:asvg="http://schemas.microsoft.com/office/drawing/2016/SVG/main" r:embed="rId29"/>
                  </a:ext>
                </a:extLst>
              </a:blip>
              <a:stretch>
                <a:fillRect l="-221018" t="-56094" r="-584605" b="-705823"/>
              </a:stretch>
            </a:blipFill>
          </p:spPr>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
          <p:cNvSpPr txBox="1"/>
          <p:nvPr/>
        </p:nvSpPr>
        <p:spPr>
          <a:xfrm>
            <a:off x="4343400" y="190501"/>
            <a:ext cx="13487400" cy="1459567"/>
          </a:xfrm>
          <a:prstGeom prst="rect">
            <a:avLst/>
          </a:prstGeom>
        </p:spPr>
        <p:txBody>
          <a:bodyPr wrap="square" lIns="0" tIns="0" rIns="0" bIns="0" rtlCol="0" anchor="t">
            <a:spAutoFit/>
          </a:bodyPr>
          <a:lstStyle/>
          <a:p>
            <a:pPr algn="ctr">
              <a:lnSpc>
                <a:spcPts val="13310"/>
              </a:lnSpc>
            </a:pPr>
            <a:r>
              <a:rPr lang="en-US" sz="6000" b="1" dirty="0">
                <a:latin typeface="Times New Roman" panose="02020603050405020304" pitchFamily="18" charset="0"/>
                <a:cs typeface="Times New Roman" panose="02020603050405020304" pitchFamily="18" charset="0"/>
              </a:rPr>
              <a:t>Strengths and Strategic Value</a:t>
            </a:r>
            <a:endParaRPr lang="en-US" sz="6000" b="1" dirty="0">
              <a:solidFill>
                <a:srgbClr val="00296B"/>
              </a:solidFill>
              <a:latin typeface="Times New Roman" panose="02020603050405020304" pitchFamily="18" charset="0"/>
              <a:ea typeface="Oswald Bold"/>
              <a:cs typeface="Times New Roman" panose="02020603050405020304" pitchFamily="18" charset="0"/>
              <a:sym typeface="Oswald Bold"/>
            </a:endParaRPr>
          </a:p>
        </p:txBody>
      </p:sp>
      <p:sp>
        <p:nvSpPr>
          <p:cNvPr id="3" name="Freeform 3"/>
          <p:cNvSpPr/>
          <p:nvPr/>
        </p:nvSpPr>
        <p:spPr>
          <a:xfrm rot="5400000">
            <a:off x="-691716" y="65301"/>
            <a:ext cx="6608312" cy="5790534"/>
          </a:xfrm>
          <a:custGeom>
            <a:avLst/>
            <a:gdLst/>
            <a:ahLst/>
            <a:cxnLst/>
            <a:rect l="l" t="t" r="r" b="b"/>
            <a:pathLst>
              <a:path w="6608312" h="5790534">
                <a:moveTo>
                  <a:pt x="0" y="0"/>
                </a:moveTo>
                <a:lnTo>
                  <a:pt x="6608312" y="0"/>
                </a:lnTo>
                <a:lnTo>
                  <a:pt x="6608312" y="5790533"/>
                </a:lnTo>
                <a:lnTo>
                  <a:pt x="0" y="5790533"/>
                </a:lnTo>
                <a:lnTo>
                  <a:pt x="0" y="0"/>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4" name="Group 4"/>
          <p:cNvGrpSpPr/>
          <p:nvPr/>
        </p:nvGrpSpPr>
        <p:grpSpPr>
          <a:xfrm>
            <a:off x="-1879340" y="1213186"/>
            <a:ext cx="7673275" cy="767327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l="-24906" r="-24906"/>
              </a:stretch>
            </a:blipFill>
            <a:ln w="238125" cap="sq">
              <a:solidFill>
                <a:srgbClr val="003F88"/>
              </a:solidFill>
              <a:prstDash val="solid"/>
              <a:miter/>
            </a:ln>
          </p:spPr>
        </p:sp>
      </p:grpSp>
      <p:sp>
        <p:nvSpPr>
          <p:cNvPr id="6" name="Freeform 6"/>
          <p:cNvSpPr/>
          <p:nvPr/>
        </p:nvSpPr>
        <p:spPr>
          <a:xfrm>
            <a:off x="-955665" y="6861293"/>
            <a:ext cx="8628939" cy="8477933"/>
          </a:xfrm>
          <a:custGeom>
            <a:avLst/>
            <a:gdLst/>
            <a:ahLst/>
            <a:cxnLst/>
            <a:rect l="l" t="t" r="r" b="b"/>
            <a:pathLst>
              <a:path w="8628939" h="8477933">
                <a:moveTo>
                  <a:pt x="0" y="0"/>
                </a:moveTo>
                <a:lnTo>
                  <a:pt x="8628940" y="0"/>
                </a:lnTo>
                <a:lnTo>
                  <a:pt x="8628940" y="8477933"/>
                </a:lnTo>
                <a:lnTo>
                  <a:pt x="0" y="8477933"/>
                </a:lnTo>
                <a:lnTo>
                  <a:pt x="0" y="0"/>
                </a:lnTo>
                <a:close/>
              </a:path>
            </a:pathLst>
          </a:custGeom>
          <a:blipFill>
            <a:blip r:embed="rId6">
              <a:extLst>
                <a:ext uri="{96DAC541-7B7A-43D3-8B79-37D633B846F1}">
                  <asvg:svgBlip xmlns="" xmlns:asvg="http://schemas.microsoft.com/office/drawing/2016/SVG/main" r:embed="rId7"/>
                </a:ext>
              </a:extLst>
            </a:blip>
            <a:stretch>
              <a:fillRect/>
            </a:stretch>
          </a:blipFill>
        </p:spPr>
      </p:sp>
      <p:sp>
        <p:nvSpPr>
          <p:cNvPr id="19" name="TextBox 19"/>
          <p:cNvSpPr txBox="1"/>
          <p:nvPr/>
        </p:nvSpPr>
        <p:spPr>
          <a:xfrm>
            <a:off x="6019800" y="2430184"/>
            <a:ext cx="11239502" cy="8002191"/>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Productivity is a strategic strength of Ruby. Less code can provide complicated functionality.</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It is also readable which reduces maintenance expenses and enhances onboarding of teams deployed on long term projects (</a:t>
            </a:r>
            <a:r>
              <a:rPr lang="en-US" sz="4000" dirty="0" err="1">
                <a:latin typeface="Times New Roman" panose="02020603050405020304" pitchFamily="18" charset="0"/>
                <a:cs typeface="Times New Roman" panose="02020603050405020304" pitchFamily="18" charset="0"/>
              </a:rPr>
              <a:t>Heurich</a:t>
            </a:r>
            <a:r>
              <a:rPr lang="en-US" sz="4000" dirty="0">
                <a:latin typeface="Times New Roman" panose="02020603050405020304" pitchFamily="18" charset="0"/>
                <a:cs typeface="Times New Roman" panose="02020603050405020304" pitchFamily="18" charset="0"/>
              </a:rPr>
              <a:t>, 2024).</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Recent ecosystem additions, such as performance related additions, demonstrate that Ruby is developing, instead of stagnating (</a:t>
            </a:r>
            <a:r>
              <a:rPr lang="en-US" sz="4000" dirty="0" err="1">
                <a:latin typeface="Times New Roman" panose="02020603050405020304" pitchFamily="18" charset="0"/>
                <a:cs typeface="Times New Roman" panose="02020603050405020304" pitchFamily="18" charset="0"/>
              </a:rPr>
              <a:t>Benis</a:t>
            </a:r>
            <a:r>
              <a:rPr lang="en-US" sz="4000" dirty="0">
                <a:latin typeface="Times New Roman" panose="02020603050405020304" pitchFamily="18" charset="0"/>
                <a:cs typeface="Times New Roman" panose="02020603050405020304" pitchFamily="18" charset="0"/>
              </a:rPr>
              <a:t> et al., 2025).</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The worth of Ruby is not out of date</a:t>
            </a:r>
            <a:r>
              <a:rPr lang="en-US" sz="4000" dirty="0" smtClean="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I</a:t>
            </a:r>
            <a:r>
              <a:rPr lang="en-US" sz="4000" dirty="0" smtClean="0">
                <a:latin typeface="Times New Roman" panose="02020603050405020304" pitchFamily="18" charset="0"/>
                <a:cs typeface="Times New Roman" panose="02020603050405020304" pitchFamily="18" charset="0"/>
              </a:rPr>
              <a:t>t </a:t>
            </a:r>
            <a:r>
              <a:rPr lang="en-US" sz="4000" dirty="0">
                <a:latin typeface="Times New Roman" panose="02020603050405020304" pitchFamily="18" charset="0"/>
                <a:cs typeface="Times New Roman" panose="02020603050405020304" pitchFamily="18" charset="0"/>
              </a:rPr>
              <a:t>is in </a:t>
            </a:r>
            <a:r>
              <a:rPr lang="en-US" sz="4000" dirty="0" err="1">
                <a:latin typeface="Times New Roman" panose="02020603050405020304" pitchFamily="18" charset="0"/>
                <a:cs typeface="Times New Roman" panose="02020603050405020304" pitchFamily="18" charset="0"/>
              </a:rPr>
              <a:t>specialised</a:t>
            </a:r>
            <a:r>
              <a:rPr lang="en-US" sz="4000" dirty="0">
                <a:latin typeface="Times New Roman" panose="02020603050405020304" pitchFamily="18" charset="0"/>
                <a:cs typeface="Times New Roman" panose="02020603050405020304" pitchFamily="18" charset="0"/>
              </a:rPr>
              <a:t> applications where experience by the developer team is </a:t>
            </a:r>
            <a:r>
              <a:rPr lang="en-US" sz="4000" dirty="0" err="1">
                <a:latin typeface="Times New Roman" panose="02020603050405020304" pitchFamily="18" charset="0"/>
                <a:cs typeface="Times New Roman" panose="02020603050405020304" pitchFamily="18" charset="0"/>
              </a:rPr>
              <a:t>realised</a:t>
            </a:r>
            <a:r>
              <a:rPr lang="en-US" sz="4000" dirty="0">
                <a:latin typeface="Times New Roman" panose="02020603050405020304" pitchFamily="18" charset="0"/>
                <a:cs typeface="Times New Roman" panose="02020603050405020304" pitchFamily="18" charset="0"/>
              </a:rPr>
              <a:t> to the actual benefit of the organisation.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flipH="1" flipV="1">
            <a:off x="10578012" y="-278726"/>
            <a:ext cx="9144000" cy="9330612"/>
          </a:xfrm>
          <a:custGeom>
            <a:avLst/>
            <a:gdLst/>
            <a:ahLst/>
            <a:cxnLst/>
            <a:rect l="l" t="t" r="r" b="b"/>
            <a:pathLst>
              <a:path w="9144000" h="9330612">
                <a:moveTo>
                  <a:pt x="9144000" y="9330612"/>
                </a:moveTo>
                <a:lnTo>
                  <a:pt x="0" y="9330612"/>
                </a:lnTo>
                <a:lnTo>
                  <a:pt x="0" y="0"/>
                </a:lnTo>
                <a:lnTo>
                  <a:pt x="9144000" y="0"/>
                </a:lnTo>
                <a:lnTo>
                  <a:pt x="9144000" y="9330612"/>
                </a:lnTo>
                <a:close/>
              </a:path>
            </a:pathLst>
          </a:custGeom>
          <a:blipFill>
            <a:blip r:embed="rId3">
              <a:extLst>
                <a:ext uri="{96DAC541-7B7A-43D3-8B79-37D633B846F1}">
                  <asvg:svgBlip xmlns="" xmlns:asvg="http://schemas.microsoft.com/office/drawing/2016/SVG/main" r:embed="rId4"/>
                </a:ext>
              </a:extLst>
            </a:blip>
            <a:stretch>
              <a:fillRect/>
            </a:stretch>
          </a:blipFill>
        </p:spPr>
      </p:sp>
      <p:sp>
        <p:nvSpPr>
          <p:cNvPr id="3" name="Freeform 3"/>
          <p:cNvSpPr/>
          <p:nvPr/>
        </p:nvSpPr>
        <p:spPr>
          <a:xfrm rot="-5400000">
            <a:off x="9484288" y="1509506"/>
            <a:ext cx="9006355" cy="8601069"/>
          </a:xfrm>
          <a:custGeom>
            <a:avLst/>
            <a:gdLst/>
            <a:ahLst/>
            <a:cxnLst/>
            <a:rect l="l" t="t" r="r" b="b"/>
            <a:pathLst>
              <a:path w="9006355" h="8601069">
                <a:moveTo>
                  <a:pt x="0" y="0"/>
                </a:moveTo>
                <a:lnTo>
                  <a:pt x="9006355" y="0"/>
                </a:lnTo>
                <a:lnTo>
                  <a:pt x="9006355" y="8601069"/>
                </a:lnTo>
                <a:lnTo>
                  <a:pt x="0" y="8601069"/>
                </a:lnTo>
                <a:lnTo>
                  <a:pt x="0" y="0"/>
                </a:lnTo>
                <a:close/>
              </a:path>
            </a:pathLst>
          </a:custGeom>
          <a:blipFill>
            <a:blip r:embed="rId5">
              <a:extLst>
                <a:ext uri="{96DAC541-7B7A-43D3-8B79-37D633B846F1}">
                  <asvg:svgBlip xmlns="" xmlns:asvg="http://schemas.microsoft.com/office/drawing/2016/SVG/main" r:embed="rId6"/>
                </a:ext>
              </a:extLst>
            </a:blip>
            <a:stretch>
              <a:fillRect/>
            </a:stretch>
          </a:blipFill>
        </p:spPr>
      </p:sp>
      <p:grpSp>
        <p:nvGrpSpPr>
          <p:cNvPr id="4" name="Group 4"/>
          <p:cNvGrpSpPr/>
          <p:nvPr/>
        </p:nvGrpSpPr>
        <p:grpSpPr>
          <a:xfrm>
            <a:off x="10916395" y="1306863"/>
            <a:ext cx="7673275" cy="767327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7"/>
              <a:stretch>
                <a:fillRect l="-25046" r="-25046"/>
              </a:stretch>
            </a:blipFill>
            <a:ln w="238125" cap="sq">
              <a:solidFill>
                <a:srgbClr val="003F88"/>
              </a:solidFill>
              <a:prstDash val="solid"/>
              <a:miter/>
            </a:ln>
          </p:spPr>
        </p:sp>
      </p:grpSp>
      <p:sp>
        <p:nvSpPr>
          <p:cNvPr id="7" name="Freeform 7"/>
          <p:cNvSpPr/>
          <p:nvPr/>
        </p:nvSpPr>
        <p:spPr>
          <a:xfrm>
            <a:off x="1248254" y="7527120"/>
            <a:ext cx="374711" cy="418579"/>
          </a:xfrm>
          <a:custGeom>
            <a:avLst/>
            <a:gdLst/>
            <a:ahLst/>
            <a:cxnLst/>
            <a:rect l="l" t="t" r="r" b="b"/>
            <a:pathLst>
              <a:path w="374711" h="418579">
                <a:moveTo>
                  <a:pt x="0" y="0"/>
                </a:moveTo>
                <a:lnTo>
                  <a:pt x="374710" y="0"/>
                </a:lnTo>
                <a:lnTo>
                  <a:pt x="374710" y="418579"/>
                </a:lnTo>
                <a:lnTo>
                  <a:pt x="0" y="418579"/>
                </a:lnTo>
                <a:lnTo>
                  <a:pt x="0" y="0"/>
                </a:lnTo>
                <a:close/>
              </a:path>
            </a:pathLst>
          </a:custGeom>
          <a:blipFill>
            <a:blip r:embed="rId8">
              <a:extLst>
                <a:ext uri="{96DAC541-7B7A-43D3-8B79-37D633B846F1}">
                  <asvg:svgBlip xmlns="" xmlns:asvg="http://schemas.microsoft.com/office/drawing/2016/SVG/main" r:embed="rId10"/>
                </a:ext>
              </a:extLst>
            </a:blip>
            <a:stretch>
              <a:fillRect r="-178968" b="-136308"/>
            </a:stretch>
          </a:blipFill>
        </p:spPr>
      </p:sp>
      <p:sp>
        <p:nvSpPr>
          <p:cNvPr id="9" name="Freeform 9"/>
          <p:cNvSpPr/>
          <p:nvPr/>
        </p:nvSpPr>
        <p:spPr>
          <a:xfrm>
            <a:off x="1248254" y="8673979"/>
            <a:ext cx="374711" cy="418579"/>
          </a:xfrm>
          <a:custGeom>
            <a:avLst/>
            <a:gdLst/>
            <a:ahLst/>
            <a:cxnLst/>
            <a:rect l="l" t="t" r="r" b="b"/>
            <a:pathLst>
              <a:path w="374711" h="418579">
                <a:moveTo>
                  <a:pt x="0" y="0"/>
                </a:moveTo>
                <a:lnTo>
                  <a:pt x="374710" y="0"/>
                </a:lnTo>
                <a:lnTo>
                  <a:pt x="374710" y="418579"/>
                </a:lnTo>
                <a:lnTo>
                  <a:pt x="0" y="418579"/>
                </a:lnTo>
                <a:lnTo>
                  <a:pt x="0" y="0"/>
                </a:lnTo>
                <a:close/>
              </a:path>
            </a:pathLst>
          </a:custGeom>
          <a:blipFill>
            <a:blip r:embed="rId8">
              <a:extLst>
                <a:ext uri="{96DAC541-7B7A-43D3-8B79-37D633B846F1}">
                  <asvg:svgBlip xmlns="" xmlns:asvg="http://schemas.microsoft.com/office/drawing/2016/SVG/main" r:embed="rId10"/>
                </a:ext>
              </a:extLst>
            </a:blip>
            <a:stretch>
              <a:fillRect r="-178968" b="-136308"/>
            </a:stretch>
          </a:blipFill>
        </p:spPr>
      </p:sp>
      <p:sp>
        <p:nvSpPr>
          <p:cNvPr id="10" name="TextBox 10"/>
          <p:cNvSpPr txBox="1"/>
          <p:nvPr/>
        </p:nvSpPr>
        <p:spPr>
          <a:xfrm>
            <a:off x="228600" y="342900"/>
            <a:ext cx="10842288" cy="1846659"/>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Limitations and Structural Weaknesses</a:t>
            </a:r>
            <a:endParaRPr lang="en-US" sz="6000" dirty="0">
              <a:latin typeface="Times New Roman" panose="02020603050405020304" pitchFamily="18" charset="0"/>
              <a:cs typeface="Times New Roman" panose="02020603050405020304" pitchFamily="18" charset="0"/>
            </a:endParaRPr>
          </a:p>
        </p:txBody>
      </p:sp>
      <p:sp>
        <p:nvSpPr>
          <p:cNvPr id="13" name="TextBox 13"/>
          <p:cNvSpPr txBox="1"/>
          <p:nvPr/>
        </p:nvSpPr>
        <p:spPr>
          <a:xfrm>
            <a:off x="228600" y="2805114"/>
            <a:ext cx="10125922" cy="6647974"/>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Ruby </a:t>
            </a:r>
            <a:r>
              <a:rPr lang="en-US" sz="3600" dirty="0">
                <a:latin typeface="Times New Roman" panose="02020603050405020304" pitchFamily="18" charset="0"/>
                <a:cs typeface="Times New Roman" panose="02020603050405020304" pitchFamily="18" charset="0"/>
              </a:rPr>
              <a:t>is generally weak in performance, particularly </a:t>
            </a:r>
            <a:r>
              <a:rPr lang="en-US" sz="3600" dirty="0" smtClean="0">
                <a:latin typeface="Times New Roman" panose="02020603050405020304" pitchFamily="18" charset="0"/>
                <a:cs typeface="Times New Roman" panose="02020603050405020304" pitchFamily="18" charset="0"/>
              </a:rPr>
              <a:t>high scale </a:t>
            </a:r>
            <a:r>
              <a:rPr lang="en-US" sz="3600" dirty="0">
                <a:latin typeface="Times New Roman" panose="02020603050405020304" pitchFamily="18" charset="0"/>
                <a:cs typeface="Times New Roman" panose="02020603050405020304" pitchFamily="18" charset="0"/>
              </a:rPr>
              <a:t>or </a:t>
            </a:r>
            <a:r>
              <a:rPr lang="en-US" sz="3600" dirty="0" smtClean="0">
                <a:latin typeface="Times New Roman" panose="02020603050405020304" pitchFamily="18" charset="0"/>
                <a:cs typeface="Times New Roman" panose="02020603050405020304" pitchFamily="18" charset="0"/>
              </a:rPr>
              <a:t>latency sensitive </a:t>
            </a:r>
            <a:r>
              <a:rPr lang="en-US" sz="3600" dirty="0">
                <a:latin typeface="Times New Roman" panose="02020603050405020304" pitchFamily="18" charset="0"/>
                <a:cs typeface="Times New Roman" panose="02020603050405020304" pitchFamily="18" charset="0"/>
              </a:rPr>
              <a:t>applications.</a:t>
            </a:r>
          </a:p>
          <a:p>
            <a:pPr marL="571500" lvl="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Studies of </a:t>
            </a:r>
            <a:r>
              <a:rPr lang="en-US" sz="3600" dirty="0" smtClean="0">
                <a:latin typeface="Times New Roman" panose="02020603050405020304" pitchFamily="18" charset="0"/>
                <a:cs typeface="Times New Roman" panose="02020603050405020304" pitchFamily="18" charset="0"/>
              </a:rPr>
              <a:t>Rails supportive </a:t>
            </a:r>
            <a:r>
              <a:rPr lang="en-US" sz="3600" dirty="0">
                <a:latin typeface="Times New Roman" panose="02020603050405020304" pitchFamily="18" charset="0"/>
                <a:cs typeface="Times New Roman" panose="02020603050405020304" pitchFamily="18" charset="0"/>
              </a:rPr>
              <a:t>systems demonstrate that </a:t>
            </a:r>
            <a:r>
              <a:rPr lang="en-US" sz="3600" dirty="0" smtClean="0">
                <a:latin typeface="Times New Roman" panose="02020603050405020304" pitchFamily="18" charset="0"/>
                <a:cs typeface="Times New Roman" panose="02020603050405020304" pitchFamily="18" charset="0"/>
              </a:rPr>
              <a:t>response time </a:t>
            </a:r>
            <a:r>
              <a:rPr lang="en-US" sz="3600" dirty="0">
                <a:latin typeface="Times New Roman" panose="02020603050405020304" pitchFamily="18" charset="0"/>
                <a:cs typeface="Times New Roman" panose="02020603050405020304" pitchFamily="18" charset="0"/>
              </a:rPr>
              <a:t>and </a:t>
            </a:r>
            <a:r>
              <a:rPr lang="en-US" sz="3600" dirty="0" err="1">
                <a:latin typeface="Times New Roman" panose="02020603050405020304" pitchFamily="18" charset="0"/>
                <a:cs typeface="Times New Roman" panose="02020603050405020304" pitchFamily="18" charset="0"/>
              </a:rPr>
              <a:t>optimisation</a:t>
            </a:r>
            <a:r>
              <a:rPr lang="en-US" sz="3600" dirty="0">
                <a:latin typeface="Times New Roman" panose="02020603050405020304" pitchFamily="18" charset="0"/>
                <a:cs typeface="Times New Roman" panose="02020603050405020304" pitchFamily="18" charset="0"/>
              </a:rPr>
              <a:t> issues are quite daunting in comparison with other frameworks (</a:t>
            </a:r>
            <a:r>
              <a:rPr lang="en-US" sz="3600" dirty="0" err="1">
                <a:latin typeface="Times New Roman" panose="02020603050405020304" pitchFamily="18" charset="0"/>
                <a:cs typeface="Times New Roman" panose="02020603050405020304" pitchFamily="18" charset="0"/>
              </a:rPr>
              <a:t>Klochkov</a:t>
            </a:r>
            <a:r>
              <a:rPr lang="en-US" sz="3600" dirty="0">
                <a:latin typeface="Times New Roman" panose="02020603050405020304" pitchFamily="18" charset="0"/>
                <a:cs typeface="Times New Roman" panose="02020603050405020304" pitchFamily="18" charset="0"/>
              </a:rPr>
              <a:t> and </a:t>
            </a:r>
            <a:r>
              <a:rPr lang="en-US" sz="3600" dirty="0" err="1">
                <a:latin typeface="Times New Roman" panose="02020603050405020304" pitchFamily="18" charset="0"/>
                <a:cs typeface="Times New Roman" panose="02020603050405020304" pitchFamily="18" charset="0"/>
              </a:rPr>
              <a:t>Mulawka</a:t>
            </a:r>
            <a:r>
              <a:rPr lang="en-US" sz="3600" dirty="0">
                <a:latin typeface="Times New Roman" panose="02020603050405020304" pitchFamily="18" charset="0"/>
                <a:cs typeface="Times New Roman" panose="02020603050405020304" pitchFamily="18" charset="0"/>
              </a:rPr>
              <a:t>, 2021).</a:t>
            </a:r>
          </a:p>
          <a:p>
            <a:pPr marL="571500" lvl="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Dynamic typing may also augment the runtime mistakes and debugging complexity in extensive codebases (</a:t>
            </a:r>
            <a:r>
              <a:rPr lang="en-US" sz="3600" dirty="0" err="1">
                <a:latin typeface="Times New Roman" panose="02020603050405020304" pitchFamily="18" charset="0"/>
                <a:cs typeface="Times New Roman" panose="02020603050405020304" pitchFamily="18" charset="0"/>
              </a:rPr>
              <a:t>Akbarpour</a:t>
            </a:r>
            <a:r>
              <a:rPr lang="en-US" sz="3600" dirty="0">
                <a:latin typeface="Times New Roman" panose="02020603050405020304" pitchFamily="18" charset="0"/>
                <a:cs typeface="Times New Roman" panose="02020603050405020304" pitchFamily="18" charset="0"/>
              </a:rPr>
              <a:t> et al., 2025).</a:t>
            </a:r>
          </a:p>
          <a:p>
            <a:pPr marL="571500" indent="-571500" algn="just">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Ruby </a:t>
            </a:r>
            <a:r>
              <a:rPr lang="en-US" sz="3600" dirty="0">
                <a:latin typeface="Times New Roman" panose="02020603050405020304" pitchFamily="18" charset="0"/>
                <a:cs typeface="Times New Roman" panose="02020603050405020304" pitchFamily="18" charset="0"/>
              </a:rPr>
              <a:t>is strong, but its malleability can be a weakness as the complexity of systems increases without effective engineering </a:t>
            </a:r>
            <a:r>
              <a:rPr lang="en-US" sz="3600" dirty="0" smtClean="0">
                <a:latin typeface="Times New Roman" panose="02020603050405020304" pitchFamily="18" charset="0"/>
                <a:cs typeface="Times New Roman" panose="02020603050405020304" pitchFamily="18" charset="0"/>
              </a:rPr>
              <a:t>discipline.</a:t>
            </a:r>
            <a:endParaRPr lang="en-US" sz="3600" dirty="0">
              <a:solidFill>
                <a:srgbClr val="000000"/>
              </a:solidFill>
              <a:latin typeface="Times New Roman" panose="02020603050405020304" pitchFamily="18" charset="0"/>
              <a:ea typeface="Inter"/>
              <a:cs typeface="Times New Roman" panose="02020603050405020304" pitchFamily="18" charset="0"/>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flipH="1" flipV="1">
            <a:off x="9865561" y="-2219011"/>
            <a:ext cx="10666557" cy="10479892"/>
          </a:xfrm>
          <a:custGeom>
            <a:avLst/>
            <a:gdLst/>
            <a:ahLst/>
            <a:cxnLst/>
            <a:rect l="l" t="t" r="r" b="b"/>
            <a:pathLst>
              <a:path w="10666557" h="10479892">
                <a:moveTo>
                  <a:pt x="10666557" y="10479892"/>
                </a:moveTo>
                <a:lnTo>
                  <a:pt x="0" y="10479892"/>
                </a:lnTo>
                <a:lnTo>
                  <a:pt x="0" y="0"/>
                </a:lnTo>
                <a:lnTo>
                  <a:pt x="10666557" y="0"/>
                </a:lnTo>
                <a:lnTo>
                  <a:pt x="10666557" y="10479892"/>
                </a:lnTo>
                <a:close/>
              </a:path>
            </a:pathLst>
          </a:custGeom>
          <a:blipFill>
            <a:blip r:embed="rId3">
              <a:extLst>
                <a:ext uri="{96DAC541-7B7A-43D3-8B79-37D633B846F1}">
                  <asvg:svgBlip xmlns="" xmlns:asvg="http://schemas.microsoft.com/office/drawing/2016/SVG/main" r:embed="rId4"/>
                </a:ext>
              </a:extLst>
            </a:blip>
            <a:stretch>
              <a:fillRect/>
            </a:stretch>
          </a:blipFill>
        </p:spPr>
      </p:sp>
      <p:grpSp>
        <p:nvGrpSpPr>
          <p:cNvPr id="3" name="Group 3"/>
          <p:cNvGrpSpPr/>
          <p:nvPr/>
        </p:nvGrpSpPr>
        <p:grpSpPr>
          <a:xfrm>
            <a:off x="12573000" y="1122458"/>
            <a:ext cx="7716330" cy="4114800"/>
            <a:chOff x="0" y="0"/>
            <a:chExt cx="1195462" cy="637490"/>
          </a:xfrm>
        </p:grpSpPr>
        <p:sp>
          <p:nvSpPr>
            <p:cNvPr id="4" name="Freeform 4"/>
            <p:cNvSpPr/>
            <p:nvPr/>
          </p:nvSpPr>
          <p:spPr>
            <a:xfrm>
              <a:off x="0" y="0"/>
              <a:ext cx="1195462" cy="637490"/>
            </a:xfrm>
            <a:custGeom>
              <a:avLst/>
              <a:gdLst/>
              <a:ahLst/>
              <a:cxnLst/>
              <a:rect l="l" t="t" r="r" b="b"/>
              <a:pathLst>
                <a:path w="1195462" h="637490">
                  <a:moveTo>
                    <a:pt x="15050" y="0"/>
                  </a:moveTo>
                  <a:lnTo>
                    <a:pt x="1180412" y="0"/>
                  </a:lnTo>
                  <a:cubicBezTo>
                    <a:pt x="1188724" y="0"/>
                    <a:pt x="1195462" y="6738"/>
                    <a:pt x="1195462" y="15050"/>
                  </a:cubicBezTo>
                  <a:lnTo>
                    <a:pt x="1195462" y="622440"/>
                  </a:lnTo>
                  <a:cubicBezTo>
                    <a:pt x="1195462" y="630752"/>
                    <a:pt x="1188724" y="637490"/>
                    <a:pt x="1180412" y="637490"/>
                  </a:cubicBezTo>
                  <a:lnTo>
                    <a:pt x="15050" y="637490"/>
                  </a:lnTo>
                  <a:cubicBezTo>
                    <a:pt x="6738" y="637490"/>
                    <a:pt x="0" y="630752"/>
                    <a:pt x="0" y="622440"/>
                  </a:cubicBezTo>
                  <a:lnTo>
                    <a:pt x="0" y="15050"/>
                  </a:lnTo>
                  <a:cubicBezTo>
                    <a:pt x="0" y="6738"/>
                    <a:pt x="6738" y="0"/>
                    <a:pt x="15050" y="0"/>
                  </a:cubicBezTo>
                  <a:close/>
                </a:path>
              </a:pathLst>
            </a:custGeom>
            <a:blipFill>
              <a:blip r:embed="rId5"/>
              <a:stretch>
                <a:fillRect t="-12235" b="-12235"/>
              </a:stretch>
            </a:blipFill>
            <a:ln w="190500" cap="sq">
              <a:solidFill>
                <a:srgbClr val="00509D"/>
              </a:solidFill>
              <a:prstDash val="solid"/>
              <a:miter/>
            </a:ln>
          </p:spPr>
        </p:sp>
      </p:grpSp>
      <p:sp>
        <p:nvSpPr>
          <p:cNvPr id="5" name="TextBox 5"/>
          <p:cNvSpPr txBox="1"/>
          <p:nvPr/>
        </p:nvSpPr>
        <p:spPr>
          <a:xfrm>
            <a:off x="304800" y="266700"/>
            <a:ext cx="12025412" cy="923330"/>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Comparison with Other Languages</a:t>
            </a:r>
            <a:endParaRPr lang="en-US" sz="6000" dirty="0">
              <a:latin typeface="Times New Roman" panose="02020603050405020304" pitchFamily="18" charset="0"/>
              <a:cs typeface="Times New Roman" panose="02020603050405020304" pitchFamily="18" charset="0"/>
            </a:endParaRPr>
          </a:p>
        </p:txBody>
      </p:sp>
      <p:sp>
        <p:nvSpPr>
          <p:cNvPr id="6" name="TextBox 6"/>
          <p:cNvSpPr txBox="1"/>
          <p:nvPr/>
        </p:nvSpPr>
        <p:spPr>
          <a:xfrm>
            <a:off x="424367" y="1750748"/>
            <a:ext cx="11234234" cy="7386638"/>
          </a:xfrm>
          <a:prstGeom prst="rect">
            <a:avLst/>
          </a:prstGeom>
        </p:spPr>
        <p:txBody>
          <a:bodyPr wrap="square" lIns="0" tIns="0" rIns="0" bIns="0" rtlCol="0" anchor="t">
            <a:spAutoFit/>
          </a:bodyPr>
          <a:lstStyle/>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Ruby, as compared to Python, is expressive and elegant, yet not as </a:t>
            </a:r>
            <a:r>
              <a:rPr lang="en-US" sz="4000" dirty="0" smtClean="0">
                <a:latin typeface="Times New Roman" panose="02020603050405020304" pitchFamily="18" charset="0"/>
                <a:cs typeface="Times New Roman" panose="02020603050405020304" pitchFamily="18" charset="0"/>
              </a:rPr>
              <a:t>well oriented </a:t>
            </a:r>
            <a:r>
              <a:rPr lang="en-US" sz="4000" dirty="0">
                <a:latin typeface="Times New Roman" panose="02020603050405020304" pitchFamily="18" charset="0"/>
                <a:cs typeface="Times New Roman" panose="02020603050405020304" pitchFamily="18" charset="0"/>
              </a:rPr>
              <a:t>to the current AI and data-science ecosystems.</a:t>
            </a:r>
          </a:p>
          <a:p>
            <a:pPr marL="571500" lvl="0" indent="-571500" algn="just">
              <a:buFont typeface="Arial" panose="020B0604020202020204" pitchFamily="34" charset="0"/>
              <a:buChar char="•"/>
            </a:pPr>
            <a:r>
              <a:rPr lang="en-US" sz="4000" dirty="0">
                <a:latin typeface="Times New Roman" panose="02020603050405020304" pitchFamily="18" charset="0"/>
                <a:cs typeface="Times New Roman" panose="02020603050405020304" pitchFamily="18" charset="0"/>
              </a:rPr>
              <a:t>Ruby is more </a:t>
            </a:r>
            <a:r>
              <a:rPr lang="en-US" sz="4000" dirty="0" err="1">
                <a:latin typeface="Times New Roman" panose="02020603050405020304" pitchFamily="18" charset="0"/>
                <a:cs typeface="Times New Roman" panose="02020603050405020304" pitchFamily="18" charset="0"/>
              </a:rPr>
              <a:t>specialised</a:t>
            </a:r>
            <a:r>
              <a:rPr lang="en-US" sz="4000" dirty="0">
                <a:latin typeface="Times New Roman" panose="02020603050405020304" pitchFamily="18" charset="0"/>
                <a:cs typeface="Times New Roman" panose="02020603050405020304" pitchFamily="18" charset="0"/>
              </a:rPr>
              <a:t> than JavaScript, but JavaScript enjoys </a:t>
            </a:r>
            <a:r>
              <a:rPr lang="en-US" sz="4000" dirty="0" smtClean="0">
                <a:latin typeface="Times New Roman" panose="02020603050405020304" pitchFamily="18" charset="0"/>
                <a:cs typeface="Times New Roman" panose="02020603050405020304" pitchFamily="18" charset="0"/>
              </a:rPr>
              <a:t>full stack </a:t>
            </a:r>
            <a:r>
              <a:rPr lang="en-US" sz="4000" dirty="0">
                <a:latin typeface="Times New Roman" panose="02020603050405020304" pitchFamily="18" charset="0"/>
                <a:cs typeface="Times New Roman" panose="02020603050405020304" pitchFamily="18" charset="0"/>
              </a:rPr>
              <a:t>ubiquity and has a wider ecosystem.</a:t>
            </a:r>
          </a:p>
          <a:p>
            <a:pPr marL="571500" lvl="0" indent="-571500" algn="just">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Low resource </a:t>
            </a:r>
            <a:r>
              <a:rPr lang="en-US" sz="4000" dirty="0">
                <a:latin typeface="Times New Roman" panose="02020603050405020304" pitchFamily="18" charset="0"/>
                <a:cs typeface="Times New Roman" panose="02020603050405020304" pitchFamily="18" charset="0"/>
              </a:rPr>
              <a:t>language studies also imply that the languages with less powerful ecosystems are at a disadvantage of tooling with the current </a:t>
            </a:r>
            <a:r>
              <a:rPr lang="en-US" sz="4000" dirty="0" smtClean="0">
                <a:latin typeface="Times New Roman" panose="02020603050405020304" pitchFamily="18" charset="0"/>
                <a:cs typeface="Times New Roman" panose="02020603050405020304" pitchFamily="18" charset="0"/>
              </a:rPr>
              <a:t>AI based </a:t>
            </a:r>
            <a:r>
              <a:rPr lang="en-US" sz="4000" dirty="0">
                <a:latin typeface="Times New Roman" panose="02020603050405020304" pitchFamily="18" charset="0"/>
                <a:cs typeface="Times New Roman" panose="02020603050405020304" pitchFamily="18" charset="0"/>
              </a:rPr>
              <a:t>development (Chen et al., 2022).</a:t>
            </a:r>
          </a:p>
          <a:p>
            <a:pPr marL="571500" lvl="0" indent="-571500" algn="just">
              <a:buFont typeface="Arial" panose="020B0604020202020204" pitchFamily="34" charset="0"/>
              <a:buChar char="•"/>
            </a:pPr>
            <a:r>
              <a:rPr lang="en-US" sz="4000" dirty="0" smtClean="0">
                <a:latin typeface="Times New Roman" panose="02020603050405020304" pitchFamily="18" charset="0"/>
                <a:cs typeface="Times New Roman" panose="02020603050405020304" pitchFamily="18" charset="0"/>
              </a:rPr>
              <a:t>Ruby </a:t>
            </a:r>
            <a:r>
              <a:rPr lang="en-US" sz="4000" dirty="0">
                <a:latin typeface="Times New Roman" panose="02020603050405020304" pitchFamily="18" charset="0"/>
                <a:cs typeface="Times New Roman" panose="02020603050405020304" pitchFamily="18" charset="0"/>
              </a:rPr>
              <a:t>is not inferior in abstract, but it is not placed as strategically in the current software environment.</a:t>
            </a:r>
          </a:p>
        </p:txBody>
      </p:sp>
      <p:grpSp>
        <p:nvGrpSpPr>
          <p:cNvPr id="15" name="Group 15"/>
          <p:cNvGrpSpPr/>
          <p:nvPr/>
        </p:nvGrpSpPr>
        <p:grpSpPr>
          <a:xfrm rot="-5400000">
            <a:off x="16347894" y="7237044"/>
            <a:ext cx="2070461" cy="692447"/>
            <a:chOff x="0" y="0"/>
            <a:chExt cx="2760615" cy="923262"/>
          </a:xfrm>
        </p:grpSpPr>
        <p:sp>
          <p:nvSpPr>
            <p:cNvPr id="16" name="Freeform 16"/>
            <p:cNvSpPr/>
            <p:nvPr/>
          </p:nvSpPr>
          <p:spPr>
            <a:xfrm>
              <a:off x="0" y="0"/>
              <a:ext cx="257775" cy="260321"/>
            </a:xfrm>
            <a:custGeom>
              <a:avLst/>
              <a:gdLst/>
              <a:ahLst/>
              <a:cxnLst/>
              <a:rect l="l" t="t" r="r" b="b"/>
              <a:pathLst>
                <a:path w="257775" h="260321">
                  <a:moveTo>
                    <a:pt x="0" y="0"/>
                  </a:moveTo>
                  <a:lnTo>
                    <a:pt x="257775" y="0"/>
                  </a:lnTo>
                  <a:lnTo>
                    <a:pt x="257775" y="260321"/>
                  </a:lnTo>
                  <a:lnTo>
                    <a:pt x="0" y="260321"/>
                  </a:lnTo>
                  <a:lnTo>
                    <a:pt x="0" y="0"/>
                  </a:lnTo>
                  <a:close/>
                </a:path>
              </a:pathLst>
            </a:custGeom>
            <a:blipFill>
              <a:blip r:embed="rId6">
                <a:alphaModFix amt="19999"/>
                <a:extLst>
                  <a:ext uri="{96DAC541-7B7A-43D3-8B79-37D633B846F1}">
                    <asvg:svgBlip xmlns="" xmlns:asvg="http://schemas.microsoft.com/office/drawing/2016/SVG/main" r:embed="rId8"/>
                  </a:ext>
                </a:extLst>
              </a:blip>
              <a:stretch>
                <a:fillRect l="-445475" t="-272482" b="-378581"/>
              </a:stretch>
            </a:blipFill>
          </p:spPr>
        </p:sp>
        <p:sp>
          <p:nvSpPr>
            <p:cNvPr id="17" name="Freeform 17"/>
            <p:cNvSpPr/>
            <p:nvPr/>
          </p:nvSpPr>
          <p:spPr>
            <a:xfrm>
              <a:off x="1668560" y="0"/>
              <a:ext cx="257775" cy="258977"/>
            </a:xfrm>
            <a:custGeom>
              <a:avLst/>
              <a:gdLst/>
              <a:ahLst/>
              <a:cxnLst/>
              <a:rect l="l" t="t" r="r" b="b"/>
              <a:pathLst>
                <a:path w="257775" h="258977">
                  <a:moveTo>
                    <a:pt x="0" y="0"/>
                  </a:moveTo>
                  <a:lnTo>
                    <a:pt x="257775" y="0"/>
                  </a:lnTo>
                  <a:lnTo>
                    <a:pt x="257775" y="258977"/>
                  </a:lnTo>
                  <a:lnTo>
                    <a:pt x="0" y="258977"/>
                  </a:lnTo>
                  <a:lnTo>
                    <a:pt x="0" y="0"/>
                  </a:lnTo>
                  <a:close/>
                </a:path>
              </a:pathLst>
            </a:custGeom>
            <a:blipFill>
              <a:blip r:embed="rId9">
                <a:alphaModFix amt="19999"/>
                <a:extLst>
                  <a:ext uri="{96DAC541-7B7A-43D3-8B79-37D633B846F1}">
                    <asvg:svgBlip xmlns="" xmlns:asvg="http://schemas.microsoft.com/office/drawing/2016/SVG/main" r:embed="rId10"/>
                  </a:ext>
                </a:extLst>
              </a:blip>
              <a:stretch>
                <a:fillRect l="-66452" t="-78640" r="-490281" b="-655409"/>
              </a:stretch>
            </a:blipFill>
          </p:spPr>
        </p:sp>
        <p:sp>
          <p:nvSpPr>
            <p:cNvPr id="18" name="Freeform 18"/>
            <p:cNvSpPr/>
            <p:nvPr/>
          </p:nvSpPr>
          <p:spPr>
            <a:xfrm>
              <a:off x="2502840" y="0"/>
              <a:ext cx="257775" cy="257775"/>
            </a:xfrm>
            <a:custGeom>
              <a:avLst/>
              <a:gdLst/>
              <a:ahLst/>
              <a:cxnLst/>
              <a:rect l="l" t="t" r="r" b="b"/>
              <a:pathLst>
                <a:path w="257775" h="257775">
                  <a:moveTo>
                    <a:pt x="0" y="0"/>
                  </a:moveTo>
                  <a:lnTo>
                    <a:pt x="257775" y="0"/>
                  </a:lnTo>
                  <a:lnTo>
                    <a:pt x="257775" y="257775"/>
                  </a:lnTo>
                  <a:lnTo>
                    <a:pt x="0" y="257775"/>
                  </a:lnTo>
                  <a:lnTo>
                    <a:pt x="0" y="0"/>
                  </a:lnTo>
                  <a:close/>
                </a:path>
              </a:pathLst>
            </a:custGeom>
            <a:blipFill>
              <a:blip r:embed="rId11">
                <a:alphaModFix amt="19999"/>
                <a:extLst>
                  <a:ext uri="{96DAC541-7B7A-43D3-8B79-37D633B846F1}">
                    <asvg:svgBlip xmlns="" xmlns:asvg="http://schemas.microsoft.com/office/drawing/2016/SVG/main" r:embed="rId12"/>
                  </a:ext>
                </a:extLst>
              </a:blip>
              <a:stretch>
                <a:fillRect l="-136594" t="-450599" r="-594854" b="-309891"/>
              </a:stretch>
            </a:blipFill>
          </p:spPr>
        </p:sp>
        <p:sp>
          <p:nvSpPr>
            <p:cNvPr id="19" name="Freeform 19"/>
            <p:cNvSpPr/>
            <p:nvPr/>
          </p:nvSpPr>
          <p:spPr>
            <a:xfrm>
              <a:off x="834280" y="0"/>
              <a:ext cx="257775" cy="257775"/>
            </a:xfrm>
            <a:custGeom>
              <a:avLst/>
              <a:gdLst/>
              <a:ahLst/>
              <a:cxnLst/>
              <a:rect l="l" t="t" r="r" b="b"/>
              <a:pathLst>
                <a:path w="257775" h="257775">
                  <a:moveTo>
                    <a:pt x="0" y="0"/>
                  </a:moveTo>
                  <a:lnTo>
                    <a:pt x="257775" y="0"/>
                  </a:lnTo>
                  <a:lnTo>
                    <a:pt x="257775" y="257775"/>
                  </a:lnTo>
                  <a:lnTo>
                    <a:pt x="0" y="257775"/>
                  </a:lnTo>
                  <a:lnTo>
                    <a:pt x="0" y="0"/>
                  </a:lnTo>
                  <a:close/>
                </a:path>
              </a:pathLst>
            </a:custGeom>
            <a:blipFill>
              <a:blip r:embed="rId13">
                <a:alphaModFix amt="19999"/>
                <a:extLst>
                  <a:ext uri="{96DAC541-7B7A-43D3-8B79-37D633B846F1}">
                    <asvg:svgBlip xmlns="" xmlns:asvg="http://schemas.microsoft.com/office/drawing/2016/SVG/main" r:embed="rId14"/>
                  </a:ext>
                </a:extLst>
              </a:blip>
              <a:stretch>
                <a:fillRect l="-160262" t="-3793" r="-428278" b="-903213"/>
              </a:stretch>
            </a:blipFill>
          </p:spPr>
        </p:sp>
        <p:sp>
          <p:nvSpPr>
            <p:cNvPr id="20" name="Freeform 20"/>
            <p:cNvSpPr/>
            <p:nvPr/>
          </p:nvSpPr>
          <p:spPr>
            <a:xfrm>
              <a:off x="834280" y="664077"/>
              <a:ext cx="257775" cy="256245"/>
            </a:xfrm>
            <a:custGeom>
              <a:avLst/>
              <a:gdLst/>
              <a:ahLst/>
              <a:cxnLst/>
              <a:rect l="l" t="t" r="r" b="b"/>
              <a:pathLst>
                <a:path w="257775" h="256245">
                  <a:moveTo>
                    <a:pt x="0" y="0"/>
                  </a:moveTo>
                  <a:lnTo>
                    <a:pt x="257775" y="0"/>
                  </a:lnTo>
                  <a:lnTo>
                    <a:pt x="257775" y="256245"/>
                  </a:lnTo>
                  <a:lnTo>
                    <a:pt x="0" y="256245"/>
                  </a:lnTo>
                  <a:lnTo>
                    <a:pt x="0" y="0"/>
                  </a:lnTo>
                  <a:close/>
                </a:path>
              </a:pathLst>
            </a:custGeom>
            <a:blipFill>
              <a:blip r:embed="rId15">
                <a:alphaModFix amt="19999"/>
                <a:extLst>
                  <a:ext uri="{96DAC541-7B7A-43D3-8B79-37D633B846F1}">
                    <asvg:svgBlip xmlns="" xmlns:asvg="http://schemas.microsoft.com/office/drawing/2016/SVG/main" r:embed="rId16"/>
                  </a:ext>
                </a:extLst>
              </a:blip>
              <a:stretch>
                <a:fillRect l="-259699" t="-234300" r="-615443" b="-221171"/>
              </a:stretch>
            </a:blipFill>
          </p:spPr>
        </p:sp>
        <p:sp>
          <p:nvSpPr>
            <p:cNvPr id="21" name="Freeform 21"/>
            <p:cNvSpPr/>
            <p:nvPr/>
          </p:nvSpPr>
          <p:spPr>
            <a:xfrm>
              <a:off x="1668560" y="665279"/>
              <a:ext cx="257775" cy="256621"/>
            </a:xfrm>
            <a:custGeom>
              <a:avLst/>
              <a:gdLst/>
              <a:ahLst/>
              <a:cxnLst/>
              <a:rect l="l" t="t" r="r" b="b"/>
              <a:pathLst>
                <a:path w="257775" h="256621">
                  <a:moveTo>
                    <a:pt x="0" y="0"/>
                  </a:moveTo>
                  <a:lnTo>
                    <a:pt x="257775" y="0"/>
                  </a:lnTo>
                  <a:lnTo>
                    <a:pt x="257775" y="256621"/>
                  </a:lnTo>
                  <a:lnTo>
                    <a:pt x="0" y="256621"/>
                  </a:lnTo>
                  <a:lnTo>
                    <a:pt x="0" y="0"/>
                  </a:lnTo>
                  <a:close/>
                </a:path>
              </a:pathLst>
            </a:custGeom>
            <a:blipFill>
              <a:blip r:embed="rId17">
                <a:alphaModFix amt="19999"/>
                <a:extLst>
                  <a:ext uri="{96DAC541-7B7A-43D3-8B79-37D633B846F1}">
                    <asvg:svgBlip xmlns="" xmlns:asvg="http://schemas.microsoft.com/office/drawing/2016/SVG/main" r:embed="rId18"/>
                  </a:ext>
                </a:extLst>
              </a:blip>
              <a:stretch>
                <a:fillRect l="-374431" t="-69477" r="-78376" b="-395705"/>
              </a:stretch>
            </a:blipFill>
          </p:spPr>
        </p:sp>
        <p:sp>
          <p:nvSpPr>
            <p:cNvPr id="22" name="Freeform 22"/>
            <p:cNvSpPr/>
            <p:nvPr/>
          </p:nvSpPr>
          <p:spPr>
            <a:xfrm>
              <a:off x="0" y="666623"/>
              <a:ext cx="257775" cy="256639"/>
            </a:xfrm>
            <a:custGeom>
              <a:avLst/>
              <a:gdLst/>
              <a:ahLst/>
              <a:cxnLst/>
              <a:rect l="l" t="t" r="r" b="b"/>
              <a:pathLst>
                <a:path w="257775" h="256639">
                  <a:moveTo>
                    <a:pt x="0" y="0"/>
                  </a:moveTo>
                  <a:lnTo>
                    <a:pt x="257775" y="0"/>
                  </a:lnTo>
                  <a:lnTo>
                    <a:pt x="257775" y="256639"/>
                  </a:lnTo>
                  <a:lnTo>
                    <a:pt x="0" y="256639"/>
                  </a:lnTo>
                  <a:lnTo>
                    <a:pt x="0" y="0"/>
                  </a:lnTo>
                  <a:close/>
                </a:path>
              </a:pathLst>
            </a:custGeom>
            <a:blipFill>
              <a:blip r:embed="rId19">
                <a:alphaModFix amt="19999"/>
                <a:extLst>
                  <a:ext uri="{96DAC541-7B7A-43D3-8B79-37D633B846F1}">
                    <asvg:svgBlip xmlns="" xmlns:asvg="http://schemas.microsoft.com/office/drawing/2016/SVG/main" r:embed="rId20"/>
                  </a:ext>
                </a:extLst>
              </a:blip>
              <a:stretch>
                <a:fillRect l="-656435" t="-65050" r="-66000" b="-760523"/>
              </a:stretch>
            </a:blipFill>
          </p:spPr>
        </p:sp>
        <p:sp>
          <p:nvSpPr>
            <p:cNvPr id="23" name="Freeform 23"/>
            <p:cNvSpPr/>
            <p:nvPr/>
          </p:nvSpPr>
          <p:spPr>
            <a:xfrm>
              <a:off x="2502840" y="664077"/>
              <a:ext cx="257775" cy="258244"/>
            </a:xfrm>
            <a:custGeom>
              <a:avLst/>
              <a:gdLst/>
              <a:ahLst/>
              <a:cxnLst/>
              <a:rect l="l" t="t" r="r" b="b"/>
              <a:pathLst>
                <a:path w="257775" h="258244">
                  <a:moveTo>
                    <a:pt x="0" y="0"/>
                  </a:moveTo>
                  <a:lnTo>
                    <a:pt x="257775" y="0"/>
                  </a:lnTo>
                  <a:lnTo>
                    <a:pt x="257775" y="258244"/>
                  </a:lnTo>
                  <a:lnTo>
                    <a:pt x="0" y="258244"/>
                  </a:lnTo>
                  <a:lnTo>
                    <a:pt x="0" y="0"/>
                  </a:lnTo>
                  <a:close/>
                </a:path>
              </a:pathLst>
            </a:custGeom>
            <a:blipFill>
              <a:blip r:embed="rId21">
                <a:alphaModFix amt="19999"/>
                <a:extLst>
                  <a:ext uri="{96DAC541-7B7A-43D3-8B79-37D633B846F1}">
                    <asvg:svgBlip xmlns="" xmlns:asvg="http://schemas.microsoft.com/office/drawing/2016/SVG/main" r:embed="rId22"/>
                  </a:ext>
                </a:extLst>
              </a:blip>
              <a:stretch>
                <a:fillRect l="-379070" t="-198840" r="-46137" b="-225413"/>
              </a:stretch>
            </a:blipFill>
          </p:spPr>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2"/>
          <p:cNvSpPr txBox="1"/>
          <p:nvPr/>
        </p:nvSpPr>
        <p:spPr>
          <a:xfrm>
            <a:off x="6866726" y="876300"/>
            <a:ext cx="11421273" cy="1846659"/>
          </a:xfrm>
          <a:prstGeom prst="rect">
            <a:avLst/>
          </a:prstGeom>
        </p:spPr>
        <p:txBody>
          <a:bodyPr wrap="square" lIns="0" tIns="0" rIns="0" bIns="0" rtlCol="0" anchor="t">
            <a:spAutoFit/>
          </a:bodyPr>
          <a:lstStyle/>
          <a:p>
            <a:r>
              <a:rPr lang="en-US" sz="6000" b="1" dirty="0">
                <a:latin typeface="Times New Roman" panose="02020603050405020304" pitchFamily="18" charset="0"/>
                <a:cs typeface="Times New Roman" panose="02020603050405020304" pitchFamily="18" charset="0"/>
              </a:rPr>
              <a:t>Current Relevance and Industry Position</a:t>
            </a:r>
            <a:endParaRPr lang="en-US" sz="6000" dirty="0">
              <a:latin typeface="Times New Roman" panose="02020603050405020304" pitchFamily="18" charset="0"/>
              <a:cs typeface="Times New Roman" panose="02020603050405020304" pitchFamily="18" charset="0"/>
            </a:endParaRPr>
          </a:p>
        </p:txBody>
      </p:sp>
      <p:sp>
        <p:nvSpPr>
          <p:cNvPr id="3" name="Freeform 3"/>
          <p:cNvSpPr/>
          <p:nvPr/>
        </p:nvSpPr>
        <p:spPr>
          <a:xfrm flipV="1">
            <a:off x="-440804" y="-329815"/>
            <a:ext cx="8381971" cy="8553032"/>
          </a:xfrm>
          <a:custGeom>
            <a:avLst/>
            <a:gdLst/>
            <a:ahLst/>
            <a:cxnLst/>
            <a:rect l="l" t="t" r="r" b="b"/>
            <a:pathLst>
              <a:path w="8381971" h="8553032">
                <a:moveTo>
                  <a:pt x="0" y="8553032"/>
                </a:moveTo>
                <a:lnTo>
                  <a:pt x="8381971" y="8553032"/>
                </a:lnTo>
                <a:lnTo>
                  <a:pt x="8381971" y="0"/>
                </a:lnTo>
                <a:lnTo>
                  <a:pt x="0" y="0"/>
                </a:lnTo>
                <a:lnTo>
                  <a:pt x="0" y="8553032"/>
                </a:lnTo>
                <a:close/>
              </a:path>
            </a:pathLst>
          </a:custGeom>
          <a:blipFill>
            <a:blip r:embed="rId3">
              <a:extLst>
                <a:ext uri="{96DAC541-7B7A-43D3-8B79-37D633B846F1}">
                  <asvg:svgBlip xmlns="" xmlns:asvg="http://schemas.microsoft.com/office/drawing/2016/SVG/main" r:embed="rId4"/>
                </a:ext>
              </a:extLst>
            </a:blip>
            <a:stretch>
              <a:fillRect/>
            </a:stretch>
          </a:blipFill>
        </p:spPr>
        <p:txBody>
          <a:bodyPr/>
          <a:lstStyle/>
          <a:p>
            <a:endParaRPr lang="en-US"/>
          </a:p>
        </p:txBody>
      </p:sp>
      <p:grpSp>
        <p:nvGrpSpPr>
          <p:cNvPr id="4" name="Group 4"/>
          <p:cNvGrpSpPr/>
          <p:nvPr/>
        </p:nvGrpSpPr>
        <p:grpSpPr>
          <a:xfrm>
            <a:off x="-1160615" y="549943"/>
            <a:ext cx="7673275" cy="7673275"/>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5"/>
              <a:stretch>
                <a:fillRect l="-25046" r="-25046"/>
              </a:stretch>
            </a:blipFill>
            <a:ln w="238125" cap="sq">
              <a:solidFill>
                <a:srgbClr val="003F88"/>
              </a:solidFill>
              <a:prstDash val="solid"/>
              <a:miter/>
            </a:ln>
          </p:spPr>
        </p:sp>
      </p:grpSp>
      <p:sp>
        <p:nvSpPr>
          <p:cNvPr id="6" name="Freeform 6"/>
          <p:cNvSpPr/>
          <p:nvPr/>
        </p:nvSpPr>
        <p:spPr>
          <a:xfrm>
            <a:off x="-789874" y="9639602"/>
            <a:ext cx="19077874" cy="3869569"/>
          </a:xfrm>
          <a:custGeom>
            <a:avLst/>
            <a:gdLst/>
            <a:ahLst/>
            <a:cxnLst/>
            <a:rect l="l" t="t" r="r" b="b"/>
            <a:pathLst>
              <a:path w="19077874" h="3869569">
                <a:moveTo>
                  <a:pt x="0" y="0"/>
                </a:moveTo>
                <a:lnTo>
                  <a:pt x="19077874" y="0"/>
                </a:lnTo>
                <a:lnTo>
                  <a:pt x="19077874" y="3869569"/>
                </a:lnTo>
                <a:lnTo>
                  <a:pt x="0" y="3869569"/>
                </a:lnTo>
                <a:lnTo>
                  <a:pt x="0" y="0"/>
                </a:lnTo>
                <a:close/>
              </a:path>
            </a:pathLst>
          </a:custGeom>
          <a:blipFill>
            <a:blip r:embed="rId6">
              <a:extLst>
                <a:ext uri="{96DAC541-7B7A-43D3-8B79-37D633B846F1}">
                  <asvg:svgBlip xmlns="" xmlns:asvg="http://schemas.microsoft.com/office/drawing/2016/SVG/main" r:embed="rId7"/>
                </a:ext>
              </a:extLst>
            </a:blip>
            <a:stretch>
              <a:fillRect l="-18924" t="-69913" r="-11926" b="-26848"/>
            </a:stretch>
          </a:blipFill>
        </p:spPr>
      </p:sp>
      <p:sp>
        <p:nvSpPr>
          <p:cNvPr id="8" name="TextBox 8"/>
          <p:cNvSpPr txBox="1"/>
          <p:nvPr/>
        </p:nvSpPr>
        <p:spPr>
          <a:xfrm>
            <a:off x="6512660" y="2722959"/>
            <a:ext cx="10392574" cy="5416868"/>
          </a:xfrm>
          <a:prstGeom prst="rect">
            <a:avLst/>
          </a:prstGeom>
        </p:spPr>
        <p:txBody>
          <a:bodyPr lIns="0" tIns="0" rIns="0" bIns="0" rtlCol="0" anchor="t">
            <a:spAutoFit/>
          </a:bodyPr>
          <a:lstStyle/>
          <a:p>
            <a:pPr marL="457200" lvl="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trends in the industry and </a:t>
            </a:r>
            <a:r>
              <a:rPr lang="en-US" sz="3200" dirty="0" smtClean="0">
                <a:latin typeface="Times New Roman" panose="02020603050405020304" pitchFamily="18" charset="0"/>
                <a:cs typeface="Times New Roman" panose="02020603050405020304" pitchFamily="18" charset="0"/>
              </a:rPr>
              <a:t>developer discussion </a:t>
            </a:r>
            <a:r>
              <a:rPr lang="en-US" sz="3200" dirty="0">
                <a:latin typeface="Times New Roman" panose="02020603050405020304" pitchFamily="18" charset="0"/>
                <a:cs typeface="Times New Roman" panose="02020603050405020304" pitchFamily="18" charset="0"/>
              </a:rPr>
              <a:t>indicate that the visibility of Ruby has decreased compared to newer or more scalable languages (</a:t>
            </a:r>
            <a:r>
              <a:rPr lang="en-US" sz="3200" dirty="0" err="1">
                <a:latin typeface="Times New Roman" panose="02020603050405020304" pitchFamily="18" charset="0"/>
                <a:cs typeface="Times New Roman" panose="02020603050405020304" pitchFamily="18" charset="0"/>
              </a:rPr>
              <a:t>Akbarpour</a:t>
            </a:r>
            <a:r>
              <a:rPr lang="en-US" sz="3200" dirty="0">
                <a:latin typeface="Times New Roman" panose="02020603050405020304" pitchFamily="18" charset="0"/>
                <a:cs typeface="Times New Roman" panose="02020603050405020304" pitchFamily="18" charset="0"/>
              </a:rPr>
              <a:t> et al., </a:t>
            </a:r>
            <a:r>
              <a:rPr lang="en-US" sz="3200" dirty="0" smtClean="0">
                <a:latin typeface="Times New Roman" panose="02020603050405020304" pitchFamily="18" charset="0"/>
                <a:cs typeface="Times New Roman" panose="02020603050405020304" pitchFamily="18" charset="0"/>
              </a:rPr>
              <a:t>2025).</a:t>
            </a:r>
            <a:endParaRPr lang="en-US" sz="3200" dirty="0">
              <a:latin typeface="Times New Roman" panose="02020603050405020304" pitchFamily="18" charset="0"/>
              <a:cs typeface="Times New Roman" panose="02020603050405020304" pitchFamily="18" charset="0"/>
            </a:endParaRPr>
          </a:p>
          <a:p>
            <a:pPr marL="457200" lvl="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But, the loss of popularity does not imply the loss of usefulness.</a:t>
            </a:r>
          </a:p>
          <a:p>
            <a:pPr marL="457200" lvl="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Ruby is still used in the production settings, particularly where there are already existing Rails applications (</a:t>
            </a:r>
            <a:r>
              <a:rPr lang="en-US" sz="3200" dirty="0" err="1">
                <a:latin typeface="Times New Roman" panose="02020603050405020304" pitchFamily="18" charset="0"/>
                <a:cs typeface="Times New Roman" panose="02020603050405020304" pitchFamily="18" charset="0"/>
              </a:rPr>
              <a:t>Zipdo</a:t>
            </a:r>
            <a:r>
              <a:rPr lang="en-US" sz="3200" dirty="0">
                <a:latin typeface="Times New Roman" panose="02020603050405020304" pitchFamily="18" charset="0"/>
                <a:cs typeface="Times New Roman" panose="02020603050405020304" pitchFamily="18" charset="0"/>
              </a:rPr>
              <a:t>, 2026).</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The important thing is that contextual </a:t>
            </a:r>
            <a:r>
              <a:rPr lang="en-US" sz="3200" dirty="0" smtClean="0">
                <a:latin typeface="Times New Roman" panose="02020603050405020304" pitchFamily="18" charset="0"/>
                <a:cs typeface="Times New Roman" panose="02020603050405020304" pitchFamily="18" charset="0"/>
              </a:rPr>
              <a:t>fitness </a:t>
            </a:r>
            <a:r>
              <a:rPr lang="en-US" sz="3200" dirty="0">
                <a:latin typeface="Times New Roman" panose="02020603050405020304" pitchFamily="18" charset="0"/>
                <a:cs typeface="Times New Roman" panose="02020603050405020304" pitchFamily="18" charset="0"/>
              </a:rPr>
              <a:t>rather than the dominance of trends, should be used to assess industry relevance</a:t>
            </a:r>
            <a:endParaRPr lang="en-US" sz="3200" dirty="0">
              <a:solidFill>
                <a:srgbClr val="000000"/>
              </a:solidFill>
              <a:latin typeface="Times New Roman" panose="02020603050405020304" pitchFamily="18" charset="0"/>
              <a:ea typeface="Inter"/>
              <a:cs typeface="Times New Roman" panose="02020603050405020304" pitchFamily="18" charset="0"/>
              <a:sym typeface="Inter"/>
            </a:endParaRPr>
          </a:p>
        </p:txBody>
      </p:sp>
      <p:grpSp>
        <p:nvGrpSpPr>
          <p:cNvPr id="9" name="Group 9"/>
          <p:cNvGrpSpPr/>
          <p:nvPr/>
        </p:nvGrpSpPr>
        <p:grpSpPr>
          <a:xfrm>
            <a:off x="-789874" y="8370387"/>
            <a:ext cx="3092169" cy="817076"/>
            <a:chOff x="0" y="0"/>
            <a:chExt cx="4122893" cy="1089435"/>
          </a:xfrm>
        </p:grpSpPr>
        <p:sp>
          <p:nvSpPr>
            <p:cNvPr id="10" name="Freeform 10"/>
            <p:cNvSpPr/>
            <p:nvPr/>
          </p:nvSpPr>
          <p:spPr>
            <a:xfrm>
              <a:off x="3101928" y="373"/>
              <a:ext cx="245482" cy="245482"/>
            </a:xfrm>
            <a:custGeom>
              <a:avLst/>
              <a:gdLst/>
              <a:ahLst/>
              <a:cxnLst/>
              <a:rect l="l" t="t" r="r" b="b"/>
              <a:pathLst>
                <a:path w="245482" h="245482">
                  <a:moveTo>
                    <a:pt x="0" y="0"/>
                  </a:moveTo>
                  <a:lnTo>
                    <a:pt x="245483" y="0"/>
                  </a:lnTo>
                  <a:lnTo>
                    <a:pt x="245483" y="245482"/>
                  </a:lnTo>
                  <a:lnTo>
                    <a:pt x="0" y="245482"/>
                  </a:lnTo>
                  <a:lnTo>
                    <a:pt x="0" y="0"/>
                  </a:lnTo>
                  <a:close/>
                </a:path>
              </a:pathLst>
            </a:custGeom>
            <a:blipFill>
              <a:blip r:embed="rId8">
                <a:alphaModFix amt="19999"/>
                <a:extLst>
                  <a:ext uri="{96DAC541-7B7A-43D3-8B79-37D633B846F1}">
                    <asvg:svgBlip xmlns="" xmlns:asvg="http://schemas.microsoft.com/office/drawing/2016/SVG/main" r:embed="rId9"/>
                  </a:ext>
                </a:extLst>
              </a:blip>
              <a:stretch>
                <a:fillRect l="-458543" t="-97554" r="-360591" b="-721580"/>
              </a:stretch>
            </a:blipFill>
          </p:spPr>
        </p:sp>
        <p:sp>
          <p:nvSpPr>
            <p:cNvPr id="11" name="Freeform 11"/>
            <p:cNvSpPr/>
            <p:nvPr/>
          </p:nvSpPr>
          <p:spPr>
            <a:xfrm>
              <a:off x="1550964" y="0"/>
              <a:ext cx="245482" cy="246378"/>
            </a:xfrm>
            <a:custGeom>
              <a:avLst/>
              <a:gdLst/>
              <a:ahLst/>
              <a:cxnLst/>
              <a:rect l="l" t="t" r="r" b="b"/>
              <a:pathLst>
                <a:path w="245482" h="246378">
                  <a:moveTo>
                    <a:pt x="0" y="0"/>
                  </a:moveTo>
                  <a:lnTo>
                    <a:pt x="245482" y="0"/>
                  </a:lnTo>
                  <a:lnTo>
                    <a:pt x="245482" y="246378"/>
                  </a:lnTo>
                  <a:lnTo>
                    <a:pt x="0" y="246378"/>
                  </a:lnTo>
                  <a:lnTo>
                    <a:pt x="0" y="0"/>
                  </a:lnTo>
                  <a:close/>
                </a:path>
              </a:pathLst>
            </a:custGeom>
            <a:blipFill>
              <a:blip r:embed="rId10">
                <a:alphaModFix amt="19999"/>
                <a:extLst>
                  <a:ext uri="{96DAC541-7B7A-43D3-8B79-37D633B846F1}">
                    <asvg:svgBlip xmlns="" xmlns:asvg="http://schemas.microsoft.com/office/drawing/2016/SVG/main" r:embed="rId11"/>
                  </a:ext>
                </a:extLst>
              </a:blip>
              <a:stretch>
                <a:fillRect l="-638766" t="-469622" r="-81317" b="-377741"/>
              </a:stretch>
            </a:blipFill>
          </p:spPr>
        </p:sp>
        <p:sp>
          <p:nvSpPr>
            <p:cNvPr id="12" name="Freeform 12"/>
            <p:cNvSpPr/>
            <p:nvPr/>
          </p:nvSpPr>
          <p:spPr>
            <a:xfrm>
              <a:off x="3877411" y="843202"/>
              <a:ext cx="245482" cy="245482"/>
            </a:xfrm>
            <a:custGeom>
              <a:avLst/>
              <a:gdLst/>
              <a:ahLst/>
              <a:cxnLst/>
              <a:rect l="l" t="t" r="r" b="b"/>
              <a:pathLst>
                <a:path w="245482" h="245482">
                  <a:moveTo>
                    <a:pt x="0" y="0"/>
                  </a:moveTo>
                  <a:lnTo>
                    <a:pt x="245482" y="0"/>
                  </a:lnTo>
                  <a:lnTo>
                    <a:pt x="245482" y="245482"/>
                  </a:lnTo>
                  <a:lnTo>
                    <a:pt x="0" y="245482"/>
                  </a:lnTo>
                  <a:lnTo>
                    <a:pt x="0" y="0"/>
                  </a:lnTo>
                  <a:close/>
                </a:path>
              </a:pathLst>
            </a:custGeom>
            <a:blipFill>
              <a:blip r:embed="rId12">
                <a:alphaModFix amt="19999"/>
                <a:extLst>
                  <a:ext uri="{96DAC541-7B7A-43D3-8B79-37D633B846F1}">
                    <asvg:svgBlip xmlns="" xmlns:asvg="http://schemas.microsoft.com/office/drawing/2016/SVG/main" r:embed="rId13"/>
                  </a:ext>
                </a:extLst>
              </a:blip>
              <a:stretch>
                <a:fillRect l="-543953" t="-641085" r="-139663" b="-69902"/>
              </a:stretch>
            </a:blipFill>
          </p:spPr>
        </p:sp>
        <p:sp>
          <p:nvSpPr>
            <p:cNvPr id="13" name="Freeform 13"/>
            <p:cNvSpPr/>
            <p:nvPr/>
          </p:nvSpPr>
          <p:spPr>
            <a:xfrm>
              <a:off x="775482" y="551"/>
              <a:ext cx="245482" cy="245057"/>
            </a:xfrm>
            <a:custGeom>
              <a:avLst/>
              <a:gdLst/>
              <a:ahLst/>
              <a:cxnLst/>
              <a:rect l="l" t="t" r="r" b="b"/>
              <a:pathLst>
                <a:path w="245482" h="245057">
                  <a:moveTo>
                    <a:pt x="0" y="0"/>
                  </a:moveTo>
                  <a:lnTo>
                    <a:pt x="245482" y="0"/>
                  </a:lnTo>
                  <a:lnTo>
                    <a:pt x="245482" y="245056"/>
                  </a:lnTo>
                  <a:lnTo>
                    <a:pt x="0" y="245056"/>
                  </a:lnTo>
                  <a:lnTo>
                    <a:pt x="0" y="0"/>
                  </a:lnTo>
                  <a:close/>
                </a:path>
              </a:pathLst>
            </a:custGeom>
            <a:blipFill>
              <a:blip r:embed="rId14">
                <a:alphaModFix amt="19999"/>
                <a:extLst>
                  <a:ext uri="{96DAC541-7B7A-43D3-8B79-37D633B846F1}">
                    <asvg:svgBlip xmlns="" xmlns:asvg="http://schemas.microsoft.com/office/drawing/2016/SVG/main" r:embed="rId15"/>
                  </a:ext>
                </a:extLst>
              </a:blip>
              <a:stretch>
                <a:fillRect l="-470127" t="-421608" r="-123715" b="-173438"/>
              </a:stretch>
            </a:blipFill>
          </p:spPr>
        </p:sp>
        <p:sp>
          <p:nvSpPr>
            <p:cNvPr id="14" name="Freeform 14"/>
            <p:cNvSpPr/>
            <p:nvPr/>
          </p:nvSpPr>
          <p:spPr>
            <a:xfrm>
              <a:off x="2326446" y="373"/>
              <a:ext cx="245482" cy="245482"/>
            </a:xfrm>
            <a:custGeom>
              <a:avLst/>
              <a:gdLst/>
              <a:ahLst/>
              <a:cxnLst/>
              <a:rect l="l" t="t" r="r" b="b"/>
              <a:pathLst>
                <a:path w="245482" h="245482">
                  <a:moveTo>
                    <a:pt x="0" y="0"/>
                  </a:moveTo>
                  <a:lnTo>
                    <a:pt x="245482" y="0"/>
                  </a:lnTo>
                  <a:lnTo>
                    <a:pt x="245482" y="245482"/>
                  </a:lnTo>
                  <a:lnTo>
                    <a:pt x="0" y="245482"/>
                  </a:lnTo>
                  <a:lnTo>
                    <a:pt x="0" y="0"/>
                  </a:lnTo>
                  <a:close/>
                </a:path>
              </a:pathLst>
            </a:custGeom>
            <a:blipFill>
              <a:blip r:embed="rId16">
                <a:alphaModFix amt="19999"/>
                <a:extLst>
                  <a:ext uri="{96DAC541-7B7A-43D3-8B79-37D633B846F1}">
                    <asvg:svgBlip xmlns="" xmlns:asvg="http://schemas.microsoft.com/office/drawing/2016/SVG/main" r:embed="rId17"/>
                  </a:ext>
                </a:extLst>
              </a:blip>
              <a:stretch>
                <a:fillRect l="-306898" t="-56319" r="-124557" b="-403107"/>
              </a:stretch>
            </a:blipFill>
          </p:spPr>
        </p:sp>
        <p:sp>
          <p:nvSpPr>
            <p:cNvPr id="15" name="Freeform 15"/>
            <p:cNvSpPr/>
            <p:nvPr/>
          </p:nvSpPr>
          <p:spPr>
            <a:xfrm>
              <a:off x="3877411" y="373"/>
              <a:ext cx="245482" cy="245482"/>
            </a:xfrm>
            <a:custGeom>
              <a:avLst/>
              <a:gdLst/>
              <a:ahLst/>
              <a:cxnLst/>
              <a:rect l="l" t="t" r="r" b="b"/>
              <a:pathLst>
                <a:path w="245482" h="245482">
                  <a:moveTo>
                    <a:pt x="0" y="0"/>
                  </a:moveTo>
                  <a:lnTo>
                    <a:pt x="245482" y="0"/>
                  </a:lnTo>
                  <a:lnTo>
                    <a:pt x="245482" y="245482"/>
                  </a:lnTo>
                  <a:lnTo>
                    <a:pt x="0" y="245482"/>
                  </a:lnTo>
                  <a:lnTo>
                    <a:pt x="0" y="0"/>
                  </a:lnTo>
                  <a:close/>
                </a:path>
              </a:pathLst>
            </a:custGeom>
            <a:blipFill>
              <a:blip r:embed="rId18">
                <a:alphaModFix amt="19999"/>
                <a:extLst>
                  <a:ext uri="{96DAC541-7B7A-43D3-8B79-37D633B846F1}">
                    <asvg:svgBlip xmlns="" xmlns:asvg="http://schemas.microsoft.com/office/drawing/2016/SVG/main" r:embed="rId19"/>
                  </a:ext>
                </a:extLst>
              </a:blip>
              <a:stretch>
                <a:fillRect l="-85460" t="-85441" r="-503456" b="-503475"/>
              </a:stretch>
            </a:blipFill>
          </p:spPr>
        </p:sp>
        <p:sp>
          <p:nvSpPr>
            <p:cNvPr id="16" name="Freeform 16"/>
            <p:cNvSpPr/>
            <p:nvPr/>
          </p:nvSpPr>
          <p:spPr>
            <a:xfrm>
              <a:off x="0" y="843202"/>
              <a:ext cx="245482" cy="245482"/>
            </a:xfrm>
            <a:custGeom>
              <a:avLst/>
              <a:gdLst/>
              <a:ahLst/>
              <a:cxnLst/>
              <a:rect l="l" t="t" r="r" b="b"/>
              <a:pathLst>
                <a:path w="245482" h="245482">
                  <a:moveTo>
                    <a:pt x="0" y="0"/>
                  </a:moveTo>
                  <a:lnTo>
                    <a:pt x="245482" y="0"/>
                  </a:lnTo>
                  <a:lnTo>
                    <a:pt x="245482" y="245482"/>
                  </a:lnTo>
                  <a:lnTo>
                    <a:pt x="0" y="245482"/>
                  </a:lnTo>
                  <a:lnTo>
                    <a:pt x="0" y="0"/>
                  </a:lnTo>
                  <a:close/>
                </a:path>
              </a:pathLst>
            </a:custGeom>
            <a:blipFill>
              <a:blip r:embed="rId20">
                <a:alphaModFix amt="19999"/>
                <a:extLst>
                  <a:ext uri="{96DAC541-7B7A-43D3-8B79-37D633B846F1}">
                    <asvg:svgBlip xmlns="" xmlns:asvg="http://schemas.microsoft.com/office/drawing/2016/SVG/main" r:embed="rId21"/>
                  </a:ext>
                </a:extLst>
              </a:blip>
              <a:stretch>
                <a:fillRect l="-468660" t="-344973" r="-122978" b="-172314"/>
              </a:stretch>
            </a:blipFill>
          </p:spPr>
        </p:sp>
        <p:sp>
          <p:nvSpPr>
            <p:cNvPr id="17" name="Freeform 17"/>
            <p:cNvSpPr/>
            <p:nvPr/>
          </p:nvSpPr>
          <p:spPr>
            <a:xfrm>
              <a:off x="775482" y="842967"/>
              <a:ext cx="245482" cy="246044"/>
            </a:xfrm>
            <a:custGeom>
              <a:avLst/>
              <a:gdLst/>
              <a:ahLst/>
              <a:cxnLst/>
              <a:rect l="l" t="t" r="r" b="b"/>
              <a:pathLst>
                <a:path w="245482" h="246044">
                  <a:moveTo>
                    <a:pt x="0" y="0"/>
                  </a:moveTo>
                  <a:lnTo>
                    <a:pt x="245482" y="0"/>
                  </a:lnTo>
                  <a:lnTo>
                    <a:pt x="245482" y="246044"/>
                  </a:lnTo>
                  <a:lnTo>
                    <a:pt x="0" y="246044"/>
                  </a:lnTo>
                  <a:lnTo>
                    <a:pt x="0" y="0"/>
                  </a:lnTo>
                  <a:close/>
                </a:path>
              </a:pathLst>
            </a:custGeom>
            <a:blipFill>
              <a:blip r:embed="rId22">
                <a:alphaModFix amt="19999"/>
                <a:extLst>
                  <a:ext uri="{96DAC541-7B7A-43D3-8B79-37D633B846F1}">
                    <asvg:svgBlip xmlns="" xmlns:asvg="http://schemas.microsoft.com/office/drawing/2016/SVG/main" r:embed="rId23"/>
                  </a:ext>
                </a:extLst>
              </a:blip>
              <a:stretch>
                <a:fillRect l="-320832" t="-278811" r="-40455" b="-81423"/>
              </a:stretch>
            </a:blipFill>
          </p:spPr>
        </p:sp>
        <p:sp>
          <p:nvSpPr>
            <p:cNvPr id="18" name="Freeform 18"/>
            <p:cNvSpPr/>
            <p:nvPr/>
          </p:nvSpPr>
          <p:spPr>
            <a:xfrm>
              <a:off x="3101928" y="842665"/>
              <a:ext cx="245482" cy="246771"/>
            </a:xfrm>
            <a:custGeom>
              <a:avLst/>
              <a:gdLst/>
              <a:ahLst/>
              <a:cxnLst/>
              <a:rect l="l" t="t" r="r" b="b"/>
              <a:pathLst>
                <a:path w="245482" h="246771">
                  <a:moveTo>
                    <a:pt x="0" y="0"/>
                  </a:moveTo>
                  <a:lnTo>
                    <a:pt x="245483" y="0"/>
                  </a:lnTo>
                  <a:lnTo>
                    <a:pt x="245483" y="246770"/>
                  </a:lnTo>
                  <a:lnTo>
                    <a:pt x="0" y="246770"/>
                  </a:lnTo>
                  <a:lnTo>
                    <a:pt x="0" y="0"/>
                  </a:lnTo>
                  <a:close/>
                </a:path>
              </a:pathLst>
            </a:custGeom>
            <a:blipFill>
              <a:blip r:embed="rId24">
                <a:alphaModFix amt="19999"/>
                <a:extLst>
                  <a:ext uri="{96DAC541-7B7A-43D3-8B79-37D633B846F1}">
                    <asvg:svgBlip xmlns="" xmlns:asvg="http://schemas.microsoft.com/office/drawing/2016/SVG/main" r:embed="rId25"/>
                  </a:ext>
                </a:extLst>
              </a:blip>
              <a:stretch>
                <a:fillRect l="-456846" t="-60785" r="-135515" b="-527961"/>
              </a:stretch>
            </a:blipFill>
          </p:spPr>
        </p:sp>
        <p:sp>
          <p:nvSpPr>
            <p:cNvPr id="19" name="Freeform 19"/>
            <p:cNvSpPr/>
            <p:nvPr/>
          </p:nvSpPr>
          <p:spPr>
            <a:xfrm>
              <a:off x="0" y="1733"/>
              <a:ext cx="245482" cy="242218"/>
            </a:xfrm>
            <a:custGeom>
              <a:avLst/>
              <a:gdLst/>
              <a:ahLst/>
              <a:cxnLst/>
              <a:rect l="l" t="t" r="r" b="b"/>
              <a:pathLst>
                <a:path w="245482" h="242218">
                  <a:moveTo>
                    <a:pt x="0" y="0"/>
                  </a:moveTo>
                  <a:lnTo>
                    <a:pt x="245482" y="0"/>
                  </a:lnTo>
                  <a:lnTo>
                    <a:pt x="245482" y="242218"/>
                  </a:lnTo>
                  <a:lnTo>
                    <a:pt x="0" y="242218"/>
                  </a:lnTo>
                  <a:lnTo>
                    <a:pt x="0" y="0"/>
                  </a:lnTo>
                  <a:close/>
                </a:path>
              </a:pathLst>
            </a:custGeom>
            <a:blipFill>
              <a:blip r:embed="rId26">
                <a:alphaModFix amt="19999"/>
                <a:extLst>
                  <a:ext uri="{96DAC541-7B7A-43D3-8B79-37D633B846F1}">
                    <asvg:svgBlip xmlns="" xmlns:asvg="http://schemas.microsoft.com/office/drawing/2016/SVG/main" r:embed="rId27"/>
                  </a:ext>
                </a:extLst>
              </a:blip>
              <a:stretch>
                <a:fillRect l="-492466" t="-104900" r="-217722" b="-616207"/>
              </a:stretch>
            </a:blipFill>
          </p:spPr>
        </p:sp>
        <p:sp>
          <p:nvSpPr>
            <p:cNvPr id="20" name="Freeform 20"/>
            <p:cNvSpPr/>
            <p:nvPr/>
          </p:nvSpPr>
          <p:spPr>
            <a:xfrm>
              <a:off x="2326446" y="843202"/>
              <a:ext cx="245482" cy="245482"/>
            </a:xfrm>
            <a:custGeom>
              <a:avLst/>
              <a:gdLst/>
              <a:ahLst/>
              <a:cxnLst/>
              <a:rect l="l" t="t" r="r" b="b"/>
              <a:pathLst>
                <a:path w="245482" h="245482">
                  <a:moveTo>
                    <a:pt x="0" y="0"/>
                  </a:moveTo>
                  <a:lnTo>
                    <a:pt x="245482" y="0"/>
                  </a:lnTo>
                  <a:lnTo>
                    <a:pt x="245482" y="245482"/>
                  </a:lnTo>
                  <a:lnTo>
                    <a:pt x="0" y="245482"/>
                  </a:lnTo>
                  <a:lnTo>
                    <a:pt x="0" y="0"/>
                  </a:lnTo>
                  <a:close/>
                </a:path>
              </a:pathLst>
            </a:custGeom>
            <a:blipFill>
              <a:blip r:embed="rId28">
                <a:alphaModFix amt="19999"/>
                <a:extLst>
                  <a:ext uri="{96DAC541-7B7A-43D3-8B79-37D633B846F1}">
                    <asvg:svgBlip xmlns="" xmlns:asvg="http://schemas.microsoft.com/office/drawing/2016/SVG/main" r:embed="rId29"/>
                  </a:ext>
                </a:extLst>
              </a:blip>
              <a:stretch>
                <a:fillRect l="-605518" t="-68326" r="-226411" b="-717008"/>
              </a:stretch>
            </a:blipFill>
          </p:spPr>
        </p:sp>
        <p:sp>
          <p:nvSpPr>
            <p:cNvPr id="21" name="Freeform 21"/>
            <p:cNvSpPr/>
            <p:nvPr/>
          </p:nvSpPr>
          <p:spPr>
            <a:xfrm>
              <a:off x="1550964" y="842931"/>
              <a:ext cx="245482" cy="246131"/>
            </a:xfrm>
            <a:custGeom>
              <a:avLst/>
              <a:gdLst/>
              <a:ahLst/>
              <a:cxnLst/>
              <a:rect l="l" t="t" r="r" b="b"/>
              <a:pathLst>
                <a:path w="245482" h="246131">
                  <a:moveTo>
                    <a:pt x="0" y="0"/>
                  </a:moveTo>
                  <a:lnTo>
                    <a:pt x="245482" y="0"/>
                  </a:lnTo>
                  <a:lnTo>
                    <a:pt x="245482" y="246131"/>
                  </a:lnTo>
                  <a:lnTo>
                    <a:pt x="0" y="246131"/>
                  </a:lnTo>
                  <a:lnTo>
                    <a:pt x="0" y="0"/>
                  </a:lnTo>
                  <a:close/>
                </a:path>
              </a:pathLst>
            </a:custGeom>
            <a:blipFill>
              <a:blip r:embed="rId30">
                <a:alphaModFix amt="19999"/>
                <a:extLst>
                  <a:ext uri="{96DAC541-7B7A-43D3-8B79-37D633B846F1}">
                    <asvg:svgBlip xmlns="" xmlns:asvg="http://schemas.microsoft.com/office/drawing/2016/SVG/main" r:embed="rId31"/>
                  </a:ext>
                </a:extLst>
              </a:blip>
              <a:stretch>
                <a:fillRect l="-527907" t="-465593" r="-164378" b="-211761"/>
              </a:stretch>
            </a:blipFill>
          </p:spPr>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Freeform 2"/>
          <p:cNvSpPr/>
          <p:nvPr/>
        </p:nvSpPr>
        <p:spPr>
          <a:xfrm rot="-5400000">
            <a:off x="13384787" y="5916973"/>
            <a:ext cx="4769234" cy="7200900"/>
          </a:xfrm>
          <a:custGeom>
            <a:avLst/>
            <a:gdLst/>
            <a:ahLst/>
            <a:cxnLst/>
            <a:rect l="l" t="t" r="r" b="b"/>
            <a:pathLst>
              <a:path w="4769234" h="7200900">
                <a:moveTo>
                  <a:pt x="0" y="0"/>
                </a:moveTo>
                <a:lnTo>
                  <a:pt x="4769234" y="0"/>
                </a:lnTo>
                <a:lnTo>
                  <a:pt x="4769234" y="7200900"/>
                </a:lnTo>
                <a:lnTo>
                  <a:pt x="0" y="7200900"/>
                </a:lnTo>
                <a:lnTo>
                  <a:pt x="0" y="0"/>
                </a:lnTo>
                <a:close/>
              </a:path>
            </a:pathLst>
          </a:custGeom>
          <a:blipFill>
            <a:blip r:embed="rId3">
              <a:extLst>
                <a:ext uri="{96DAC541-7B7A-43D3-8B79-37D633B846F1}">
                  <asvg:svgBlip xmlns="" xmlns:asvg="http://schemas.microsoft.com/office/drawing/2016/SVG/main" r:embed="rId4"/>
                </a:ext>
              </a:extLst>
            </a:blip>
            <a:stretch>
              <a:fillRect r="-50797"/>
            </a:stretch>
          </a:blipFill>
        </p:spPr>
      </p:sp>
      <p:sp>
        <p:nvSpPr>
          <p:cNvPr id="3" name="Freeform 3"/>
          <p:cNvSpPr/>
          <p:nvPr/>
        </p:nvSpPr>
        <p:spPr>
          <a:xfrm flipH="1" flipV="1">
            <a:off x="9144000" y="-261223"/>
            <a:ext cx="9266106" cy="8849131"/>
          </a:xfrm>
          <a:custGeom>
            <a:avLst/>
            <a:gdLst/>
            <a:ahLst/>
            <a:cxnLst/>
            <a:rect l="l" t="t" r="r" b="b"/>
            <a:pathLst>
              <a:path w="9266106" h="8849131">
                <a:moveTo>
                  <a:pt x="9266106" y="8849131"/>
                </a:moveTo>
                <a:lnTo>
                  <a:pt x="0" y="8849131"/>
                </a:lnTo>
                <a:lnTo>
                  <a:pt x="0" y="0"/>
                </a:lnTo>
                <a:lnTo>
                  <a:pt x="9266106" y="0"/>
                </a:lnTo>
                <a:lnTo>
                  <a:pt x="9266106" y="8849131"/>
                </a:lnTo>
                <a:close/>
              </a:path>
            </a:pathLst>
          </a:custGeom>
          <a:blipFill>
            <a:blip r:embed="rId5">
              <a:extLst>
                <a:ext uri="{96DAC541-7B7A-43D3-8B79-37D633B846F1}">
                  <asvg:svgBlip xmlns="" xmlns:asvg="http://schemas.microsoft.com/office/drawing/2016/SVG/main" r:embed="rId6"/>
                </a:ext>
              </a:extLst>
            </a:blip>
            <a:stretch>
              <a:fillRect/>
            </a:stretch>
          </a:blipFill>
        </p:spPr>
      </p:sp>
      <p:grpSp>
        <p:nvGrpSpPr>
          <p:cNvPr id="4" name="Group 4"/>
          <p:cNvGrpSpPr/>
          <p:nvPr/>
        </p:nvGrpSpPr>
        <p:grpSpPr>
          <a:xfrm>
            <a:off x="10327163" y="1301792"/>
            <a:ext cx="7759000" cy="7759000"/>
            <a:chOff x="0" y="0"/>
            <a:chExt cx="812800" cy="812800"/>
          </a:xfrm>
        </p:grpSpPr>
        <p:sp>
          <p:nvSpPr>
            <p:cNvPr id="5" name="Freeform 5"/>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7"/>
              <a:stretch>
                <a:fillRect l="-25046" r="-25046"/>
              </a:stretch>
            </a:blipFill>
            <a:ln w="238125" cap="sq">
              <a:solidFill>
                <a:srgbClr val="003F88"/>
              </a:solidFill>
              <a:prstDash val="solid"/>
              <a:miter/>
            </a:ln>
          </p:spPr>
        </p:sp>
      </p:grpSp>
      <p:sp>
        <p:nvSpPr>
          <p:cNvPr id="12" name="Freeform 12"/>
          <p:cNvSpPr/>
          <p:nvPr/>
        </p:nvSpPr>
        <p:spPr>
          <a:xfrm>
            <a:off x="1259468" y="5746068"/>
            <a:ext cx="491326" cy="475972"/>
          </a:xfrm>
          <a:custGeom>
            <a:avLst/>
            <a:gdLst/>
            <a:ahLst/>
            <a:cxnLst/>
            <a:rect l="l" t="t" r="r" b="b"/>
            <a:pathLst>
              <a:path w="491326" h="475972">
                <a:moveTo>
                  <a:pt x="0" y="0"/>
                </a:moveTo>
                <a:lnTo>
                  <a:pt x="491326" y="0"/>
                </a:lnTo>
                <a:lnTo>
                  <a:pt x="491326" y="475972"/>
                </a:lnTo>
                <a:lnTo>
                  <a:pt x="0" y="475972"/>
                </a:lnTo>
                <a:lnTo>
                  <a:pt x="0" y="0"/>
                </a:lnTo>
                <a:close/>
              </a:path>
            </a:pathLst>
          </a:custGeom>
          <a:blipFill>
            <a:blip r:embed="rId8">
              <a:extLst>
                <a:ext uri="{96DAC541-7B7A-43D3-8B79-37D633B846F1}">
                  <asvg:svgBlip xmlns="" xmlns:asvg="http://schemas.microsoft.com/office/drawing/2016/SVG/main" r:embed="rId18"/>
                </a:ext>
              </a:extLst>
            </a:blip>
            <a:stretch>
              <a:fillRect/>
            </a:stretch>
          </a:blipFill>
        </p:spPr>
      </p:sp>
      <p:sp>
        <p:nvSpPr>
          <p:cNvPr id="15" name="TextBox 15"/>
          <p:cNvSpPr txBox="1"/>
          <p:nvPr/>
        </p:nvSpPr>
        <p:spPr>
          <a:xfrm>
            <a:off x="2971800" y="-261223"/>
            <a:ext cx="11864154" cy="1921232"/>
          </a:xfrm>
          <a:prstGeom prst="rect">
            <a:avLst/>
          </a:prstGeom>
        </p:spPr>
        <p:txBody>
          <a:bodyPr wrap="square" lIns="0" tIns="0" rIns="0" bIns="0" rtlCol="0" anchor="t">
            <a:spAutoFit/>
          </a:bodyPr>
          <a:lstStyle/>
          <a:p>
            <a:pPr>
              <a:lnSpc>
                <a:spcPts val="18148"/>
              </a:lnSpc>
            </a:pPr>
            <a:r>
              <a:rPr lang="en-US" sz="6000" b="1" dirty="0" smtClean="0">
                <a:latin typeface="Times New Roman" panose="02020603050405020304" pitchFamily="18" charset="0"/>
                <a:cs typeface="Times New Roman" panose="02020603050405020304" pitchFamily="18" charset="0"/>
              </a:rPr>
              <a:t>Conclusion</a:t>
            </a:r>
            <a:endParaRPr lang="en-US" sz="6000" b="1" dirty="0">
              <a:solidFill>
                <a:srgbClr val="00296B"/>
              </a:solidFill>
              <a:latin typeface="Times New Roman" panose="02020603050405020304" pitchFamily="18" charset="0"/>
              <a:ea typeface="Oswald Bold"/>
              <a:cs typeface="Times New Roman" panose="02020603050405020304" pitchFamily="18" charset="0"/>
              <a:sym typeface="Oswald Bold"/>
            </a:endParaRPr>
          </a:p>
        </p:txBody>
      </p:sp>
      <p:sp>
        <p:nvSpPr>
          <p:cNvPr id="16" name="TextBox 16"/>
          <p:cNvSpPr txBox="1"/>
          <p:nvPr/>
        </p:nvSpPr>
        <p:spPr>
          <a:xfrm>
            <a:off x="2286371" y="1012126"/>
            <a:ext cx="4885695" cy="522182"/>
          </a:xfrm>
          <a:prstGeom prst="rect">
            <a:avLst/>
          </a:prstGeom>
        </p:spPr>
        <p:txBody>
          <a:bodyPr lIns="0" tIns="0" rIns="0" bIns="0" rtlCol="0" anchor="t">
            <a:spAutoFit/>
          </a:bodyPr>
          <a:lstStyle/>
          <a:p>
            <a:pPr algn="just">
              <a:lnSpc>
                <a:spcPts val="4293"/>
              </a:lnSpc>
              <a:spcBef>
                <a:spcPct val="0"/>
              </a:spcBef>
            </a:pPr>
            <a:endParaRPr lang="en-US" sz="3066" b="1" dirty="0">
              <a:solidFill>
                <a:srgbClr val="00296B"/>
              </a:solidFill>
              <a:latin typeface="Inter Bold"/>
              <a:ea typeface="Inter Bold"/>
              <a:cs typeface="Inter Bold"/>
              <a:sym typeface="Inter Bold"/>
            </a:endParaRPr>
          </a:p>
        </p:txBody>
      </p:sp>
      <p:sp>
        <p:nvSpPr>
          <p:cNvPr id="22" name="TextBox 22"/>
          <p:cNvSpPr txBox="1"/>
          <p:nvPr/>
        </p:nvSpPr>
        <p:spPr>
          <a:xfrm>
            <a:off x="431778" y="2556783"/>
            <a:ext cx="9817233" cy="6093976"/>
          </a:xfrm>
          <a:prstGeom prst="rect">
            <a:avLst/>
          </a:prstGeom>
        </p:spPr>
        <p:txBody>
          <a:bodyPr wrap="square" lIns="0" tIns="0" rIns="0" bIns="0" rtlCol="0" anchor="t">
            <a:spAutoFit/>
          </a:bodyPr>
          <a:lstStyle/>
          <a:p>
            <a:pPr marL="457200" lvl="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My standpoint is that Ruby is a contextually good, but not a universally good, language.</a:t>
            </a:r>
          </a:p>
          <a:p>
            <a:pPr marL="457200" lvl="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It is very useful with readable code and rapid prototyping and not as effective with </a:t>
            </a:r>
            <a:r>
              <a:rPr lang="en-US" sz="3600" dirty="0" smtClean="0">
                <a:latin typeface="Times New Roman" panose="02020603050405020304" pitchFamily="18" charset="0"/>
                <a:cs typeface="Times New Roman" panose="02020603050405020304" pitchFamily="18" charset="0"/>
              </a:rPr>
              <a:t>data intensive </a:t>
            </a:r>
            <a:r>
              <a:rPr lang="en-US" sz="3600" dirty="0">
                <a:latin typeface="Times New Roman" panose="02020603050405020304" pitchFamily="18" charset="0"/>
                <a:cs typeface="Times New Roman" panose="02020603050405020304" pitchFamily="18" charset="0"/>
              </a:rPr>
              <a:t>or rather </a:t>
            </a:r>
            <a:r>
              <a:rPr lang="en-US" sz="3600" dirty="0" smtClean="0">
                <a:latin typeface="Times New Roman" panose="02020603050405020304" pitchFamily="18" charset="0"/>
                <a:cs typeface="Times New Roman" panose="02020603050405020304" pitchFamily="18" charset="0"/>
              </a:rPr>
              <a:t>performance intensive </a:t>
            </a:r>
            <a:r>
              <a:rPr lang="en-US" sz="3600" dirty="0">
                <a:latin typeface="Times New Roman" panose="02020603050405020304" pitchFamily="18" charset="0"/>
                <a:cs typeface="Times New Roman" panose="02020603050405020304" pitchFamily="18" charset="0"/>
              </a:rPr>
              <a:t>systems </a:t>
            </a:r>
            <a:r>
              <a:rPr lang="en-US" sz="3600" dirty="0" err="1" smtClean="0">
                <a:latin typeface="Times New Roman" panose="02020603050405020304" pitchFamily="18" charset="0"/>
                <a:cs typeface="Times New Roman" panose="02020603050405020304" pitchFamily="18" charset="0"/>
              </a:rPr>
              <a:t>Tripathi</a:t>
            </a:r>
            <a:r>
              <a:rPr lang="en-US" sz="3600" dirty="0" smtClean="0">
                <a:latin typeface="Times New Roman" panose="02020603050405020304" pitchFamily="18" charset="0"/>
                <a:cs typeface="Times New Roman" panose="02020603050405020304" pitchFamily="18" charset="0"/>
              </a:rPr>
              <a:t> </a:t>
            </a:r>
            <a:r>
              <a:rPr lang="en-US" sz="3600" dirty="0">
                <a:latin typeface="Times New Roman" panose="02020603050405020304" pitchFamily="18" charset="0"/>
                <a:cs typeface="Times New Roman" panose="02020603050405020304" pitchFamily="18" charset="0"/>
              </a:rPr>
              <a:t>et al., 2024).</a:t>
            </a:r>
          </a:p>
          <a:p>
            <a:pPr marL="457200" lvl="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Ruby and its lasting contribution is its human philosophy.</a:t>
            </a:r>
          </a:p>
          <a:p>
            <a:pPr marL="457200" lvl="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It still has an impact on the way modern languages and tools consider developer productivity, even in areas where no domination exists.</a:t>
            </a:r>
          </a:p>
        </p:txBody>
      </p:sp>
      <p:grpSp>
        <p:nvGrpSpPr>
          <p:cNvPr id="23" name="Group 23"/>
          <p:cNvGrpSpPr/>
          <p:nvPr/>
        </p:nvGrpSpPr>
        <p:grpSpPr>
          <a:xfrm>
            <a:off x="10522294" y="8523777"/>
            <a:ext cx="2617245" cy="875313"/>
            <a:chOff x="0" y="0"/>
            <a:chExt cx="3489660" cy="1167085"/>
          </a:xfrm>
        </p:grpSpPr>
        <p:sp>
          <p:nvSpPr>
            <p:cNvPr id="24" name="Freeform 24"/>
            <p:cNvSpPr/>
            <p:nvPr/>
          </p:nvSpPr>
          <p:spPr>
            <a:xfrm>
              <a:off x="0" y="0"/>
              <a:ext cx="325850" cy="329068"/>
            </a:xfrm>
            <a:custGeom>
              <a:avLst/>
              <a:gdLst/>
              <a:ahLst/>
              <a:cxnLst/>
              <a:rect l="l" t="t" r="r" b="b"/>
              <a:pathLst>
                <a:path w="325850" h="329068">
                  <a:moveTo>
                    <a:pt x="0" y="0"/>
                  </a:moveTo>
                  <a:lnTo>
                    <a:pt x="325850" y="0"/>
                  </a:lnTo>
                  <a:lnTo>
                    <a:pt x="325850" y="329068"/>
                  </a:lnTo>
                  <a:lnTo>
                    <a:pt x="0" y="329068"/>
                  </a:lnTo>
                  <a:lnTo>
                    <a:pt x="0" y="0"/>
                  </a:lnTo>
                  <a:close/>
                </a:path>
              </a:pathLst>
            </a:custGeom>
            <a:blipFill>
              <a:blip r:embed="rId19">
                <a:alphaModFix amt="19999"/>
                <a:extLst>
                  <a:ext uri="{96DAC541-7B7A-43D3-8B79-37D633B846F1}">
                    <asvg:svgBlip xmlns="" xmlns:asvg="http://schemas.microsoft.com/office/drawing/2016/SVG/main" r:embed="rId22"/>
                  </a:ext>
                </a:extLst>
              </a:blip>
              <a:stretch>
                <a:fillRect l="-445475" t="-272482" b="-378581"/>
              </a:stretch>
            </a:blipFill>
          </p:spPr>
        </p:sp>
        <p:sp>
          <p:nvSpPr>
            <p:cNvPr id="25" name="Freeform 25"/>
            <p:cNvSpPr/>
            <p:nvPr/>
          </p:nvSpPr>
          <p:spPr>
            <a:xfrm>
              <a:off x="2109206" y="0"/>
              <a:ext cx="325850" cy="327369"/>
            </a:xfrm>
            <a:custGeom>
              <a:avLst/>
              <a:gdLst/>
              <a:ahLst/>
              <a:cxnLst/>
              <a:rect l="l" t="t" r="r" b="b"/>
              <a:pathLst>
                <a:path w="325850" h="327369">
                  <a:moveTo>
                    <a:pt x="0" y="0"/>
                  </a:moveTo>
                  <a:lnTo>
                    <a:pt x="325850" y="0"/>
                  </a:lnTo>
                  <a:lnTo>
                    <a:pt x="325850" y="327369"/>
                  </a:lnTo>
                  <a:lnTo>
                    <a:pt x="0" y="327369"/>
                  </a:lnTo>
                  <a:lnTo>
                    <a:pt x="0" y="0"/>
                  </a:lnTo>
                  <a:close/>
                </a:path>
              </a:pathLst>
            </a:custGeom>
            <a:blipFill>
              <a:blip r:embed="rId23">
                <a:alphaModFix amt="19999"/>
                <a:extLst>
                  <a:ext uri="{96DAC541-7B7A-43D3-8B79-37D633B846F1}">
                    <asvg:svgBlip xmlns="" xmlns:asvg="http://schemas.microsoft.com/office/drawing/2016/SVG/main" r:embed="rId24"/>
                  </a:ext>
                </a:extLst>
              </a:blip>
              <a:stretch>
                <a:fillRect l="-66452" t="-78640" r="-490281" b="-655409"/>
              </a:stretch>
            </a:blipFill>
          </p:spPr>
        </p:sp>
        <p:sp>
          <p:nvSpPr>
            <p:cNvPr id="26" name="Freeform 26"/>
            <p:cNvSpPr/>
            <p:nvPr/>
          </p:nvSpPr>
          <p:spPr>
            <a:xfrm>
              <a:off x="3163810" y="0"/>
              <a:ext cx="325850" cy="325850"/>
            </a:xfrm>
            <a:custGeom>
              <a:avLst/>
              <a:gdLst/>
              <a:ahLst/>
              <a:cxnLst/>
              <a:rect l="l" t="t" r="r" b="b"/>
              <a:pathLst>
                <a:path w="325850" h="325850">
                  <a:moveTo>
                    <a:pt x="0" y="0"/>
                  </a:moveTo>
                  <a:lnTo>
                    <a:pt x="325850" y="0"/>
                  </a:lnTo>
                  <a:lnTo>
                    <a:pt x="325850" y="325850"/>
                  </a:lnTo>
                  <a:lnTo>
                    <a:pt x="0" y="325850"/>
                  </a:lnTo>
                  <a:lnTo>
                    <a:pt x="0" y="0"/>
                  </a:lnTo>
                  <a:close/>
                </a:path>
              </a:pathLst>
            </a:custGeom>
            <a:blipFill>
              <a:blip r:embed="rId25">
                <a:alphaModFix amt="19999"/>
                <a:extLst>
                  <a:ext uri="{96DAC541-7B7A-43D3-8B79-37D633B846F1}">
                    <asvg:svgBlip xmlns="" xmlns:asvg="http://schemas.microsoft.com/office/drawing/2016/SVG/main" r:embed="rId26"/>
                  </a:ext>
                </a:extLst>
              </a:blip>
              <a:stretch>
                <a:fillRect l="-136594" t="-450599" r="-594854" b="-309891"/>
              </a:stretch>
            </a:blipFill>
          </p:spPr>
        </p:sp>
        <p:sp>
          <p:nvSpPr>
            <p:cNvPr id="27" name="Freeform 27"/>
            <p:cNvSpPr/>
            <p:nvPr/>
          </p:nvSpPr>
          <p:spPr>
            <a:xfrm>
              <a:off x="1054603" y="0"/>
              <a:ext cx="325850" cy="325850"/>
            </a:xfrm>
            <a:custGeom>
              <a:avLst/>
              <a:gdLst/>
              <a:ahLst/>
              <a:cxnLst/>
              <a:rect l="l" t="t" r="r" b="b"/>
              <a:pathLst>
                <a:path w="325850" h="325850">
                  <a:moveTo>
                    <a:pt x="0" y="0"/>
                  </a:moveTo>
                  <a:lnTo>
                    <a:pt x="325850" y="0"/>
                  </a:lnTo>
                  <a:lnTo>
                    <a:pt x="325850" y="325850"/>
                  </a:lnTo>
                  <a:lnTo>
                    <a:pt x="0" y="325850"/>
                  </a:lnTo>
                  <a:lnTo>
                    <a:pt x="0" y="0"/>
                  </a:lnTo>
                  <a:close/>
                </a:path>
              </a:pathLst>
            </a:custGeom>
            <a:blipFill>
              <a:blip r:embed="rId27">
                <a:alphaModFix amt="19999"/>
                <a:extLst>
                  <a:ext uri="{96DAC541-7B7A-43D3-8B79-37D633B846F1}">
                    <asvg:svgBlip xmlns="" xmlns:asvg="http://schemas.microsoft.com/office/drawing/2016/SVG/main" r:embed="rId28"/>
                  </a:ext>
                </a:extLst>
              </a:blip>
              <a:stretch>
                <a:fillRect l="-160262" t="-3793" r="-428278" b="-903213"/>
              </a:stretch>
            </a:blipFill>
          </p:spPr>
        </p:sp>
        <p:sp>
          <p:nvSpPr>
            <p:cNvPr id="28" name="Freeform 28"/>
            <p:cNvSpPr/>
            <p:nvPr/>
          </p:nvSpPr>
          <p:spPr>
            <a:xfrm>
              <a:off x="1054603" y="839452"/>
              <a:ext cx="325850" cy="323916"/>
            </a:xfrm>
            <a:custGeom>
              <a:avLst/>
              <a:gdLst/>
              <a:ahLst/>
              <a:cxnLst/>
              <a:rect l="l" t="t" r="r" b="b"/>
              <a:pathLst>
                <a:path w="325850" h="323916">
                  <a:moveTo>
                    <a:pt x="0" y="0"/>
                  </a:moveTo>
                  <a:lnTo>
                    <a:pt x="325850" y="0"/>
                  </a:lnTo>
                  <a:lnTo>
                    <a:pt x="325850" y="323916"/>
                  </a:lnTo>
                  <a:lnTo>
                    <a:pt x="0" y="323916"/>
                  </a:lnTo>
                  <a:lnTo>
                    <a:pt x="0" y="0"/>
                  </a:lnTo>
                  <a:close/>
                </a:path>
              </a:pathLst>
            </a:custGeom>
            <a:blipFill>
              <a:blip r:embed="rId29">
                <a:alphaModFix amt="19999"/>
                <a:extLst>
                  <a:ext uri="{96DAC541-7B7A-43D3-8B79-37D633B846F1}">
                    <asvg:svgBlip xmlns="" xmlns:asvg="http://schemas.microsoft.com/office/drawing/2016/SVG/main" r:embed="rId30"/>
                  </a:ext>
                </a:extLst>
              </a:blip>
              <a:stretch>
                <a:fillRect l="-259699" t="-234300" r="-615443" b="-221171"/>
              </a:stretch>
            </a:blipFill>
          </p:spPr>
        </p:sp>
        <p:sp>
          <p:nvSpPr>
            <p:cNvPr id="29" name="Freeform 29"/>
            <p:cNvSpPr/>
            <p:nvPr/>
          </p:nvSpPr>
          <p:spPr>
            <a:xfrm>
              <a:off x="2109206" y="840971"/>
              <a:ext cx="325850" cy="324392"/>
            </a:xfrm>
            <a:custGeom>
              <a:avLst/>
              <a:gdLst/>
              <a:ahLst/>
              <a:cxnLst/>
              <a:rect l="l" t="t" r="r" b="b"/>
              <a:pathLst>
                <a:path w="325850" h="324392">
                  <a:moveTo>
                    <a:pt x="0" y="0"/>
                  </a:moveTo>
                  <a:lnTo>
                    <a:pt x="325850" y="0"/>
                  </a:lnTo>
                  <a:lnTo>
                    <a:pt x="325850" y="324392"/>
                  </a:lnTo>
                  <a:lnTo>
                    <a:pt x="0" y="324392"/>
                  </a:lnTo>
                  <a:lnTo>
                    <a:pt x="0" y="0"/>
                  </a:lnTo>
                  <a:close/>
                </a:path>
              </a:pathLst>
            </a:custGeom>
            <a:blipFill>
              <a:blip r:embed="rId31">
                <a:alphaModFix amt="19999"/>
                <a:extLst>
                  <a:ext uri="{96DAC541-7B7A-43D3-8B79-37D633B846F1}">
                    <asvg:svgBlip xmlns="" xmlns:asvg="http://schemas.microsoft.com/office/drawing/2016/SVG/main" r:embed="rId32"/>
                  </a:ext>
                </a:extLst>
              </a:blip>
              <a:stretch>
                <a:fillRect l="-374431" t="-69477" r="-78376" b="-395705"/>
              </a:stretch>
            </a:blipFill>
          </p:spPr>
        </p:sp>
        <p:sp>
          <p:nvSpPr>
            <p:cNvPr id="30" name="Freeform 30"/>
            <p:cNvSpPr/>
            <p:nvPr/>
          </p:nvSpPr>
          <p:spPr>
            <a:xfrm>
              <a:off x="0" y="842670"/>
              <a:ext cx="325850" cy="324414"/>
            </a:xfrm>
            <a:custGeom>
              <a:avLst/>
              <a:gdLst/>
              <a:ahLst/>
              <a:cxnLst/>
              <a:rect l="l" t="t" r="r" b="b"/>
              <a:pathLst>
                <a:path w="325850" h="324414">
                  <a:moveTo>
                    <a:pt x="0" y="0"/>
                  </a:moveTo>
                  <a:lnTo>
                    <a:pt x="325850" y="0"/>
                  </a:lnTo>
                  <a:lnTo>
                    <a:pt x="325850" y="324415"/>
                  </a:lnTo>
                  <a:lnTo>
                    <a:pt x="0" y="324415"/>
                  </a:lnTo>
                  <a:lnTo>
                    <a:pt x="0" y="0"/>
                  </a:lnTo>
                  <a:close/>
                </a:path>
              </a:pathLst>
            </a:custGeom>
            <a:blipFill>
              <a:blip r:embed="rId33">
                <a:alphaModFix amt="19999"/>
                <a:extLst>
                  <a:ext uri="{96DAC541-7B7A-43D3-8B79-37D633B846F1}">
                    <asvg:svgBlip xmlns="" xmlns:asvg="http://schemas.microsoft.com/office/drawing/2016/SVG/main" r:embed="rId34"/>
                  </a:ext>
                </a:extLst>
              </a:blip>
              <a:stretch>
                <a:fillRect l="-656435" t="-65050" r="-66000" b="-760523"/>
              </a:stretch>
            </a:blipFill>
          </p:spPr>
        </p:sp>
        <p:sp>
          <p:nvSpPr>
            <p:cNvPr id="31" name="Freeform 31"/>
            <p:cNvSpPr/>
            <p:nvPr/>
          </p:nvSpPr>
          <p:spPr>
            <a:xfrm>
              <a:off x="3163810" y="839452"/>
              <a:ext cx="325850" cy="326443"/>
            </a:xfrm>
            <a:custGeom>
              <a:avLst/>
              <a:gdLst/>
              <a:ahLst/>
              <a:cxnLst/>
              <a:rect l="l" t="t" r="r" b="b"/>
              <a:pathLst>
                <a:path w="325850" h="326443">
                  <a:moveTo>
                    <a:pt x="0" y="0"/>
                  </a:moveTo>
                  <a:lnTo>
                    <a:pt x="325850" y="0"/>
                  </a:lnTo>
                  <a:lnTo>
                    <a:pt x="325850" y="326443"/>
                  </a:lnTo>
                  <a:lnTo>
                    <a:pt x="0" y="326443"/>
                  </a:lnTo>
                  <a:lnTo>
                    <a:pt x="0" y="0"/>
                  </a:lnTo>
                  <a:close/>
                </a:path>
              </a:pathLst>
            </a:custGeom>
            <a:blipFill>
              <a:blip r:embed="rId35">
                <a:alphaModFix amt="19999"/>
                <a:extLst>
                  <a:ext uri="{96DAC541-7B7A-43D3-8B79-37D633B846F1}">
                    <asvg:svgBlip xmlns="" xmlns:asvg="http://schemas.microsoft.com/office/drawing/2016/SVG/main" r:embed="rId36"/>
                  </a:ext>
                </a:extLst>
              </a:blip>
              <a:stretch>
                <a:fillRect l="-379070" t="-198840" r="-46137" b="-225413"/>
              </a:stretch>
            </a:blipFill>
          </p:spPr>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Freeform 12"/>
          <p:cNvSpPr/>
          <p:nvPr/>
        </p:nvSpPr>
        <p:spPr>
          <a:xfrm>
            <a:off x="1259468" y="5746068"/>
            <a:ext cx="491326" cy="475972"/>
          </a:xfrm>
          <a:custGeom>
            <a:avLst/>
            <a:gdLst/>
            <a:ahLst/>
            <a:cxnLst/>
            <a:rect l="l" t="t" r="r" b="b"/>
            <a:pathLst>
              <a:path w="491326" h="475972">
                <a:moveTo>
                  <a:pt x="0" y="0"/>
                </a:moveTo>
                <a:lnTo>
                  <a:pt x="491326" y="0"/>
                </a:lnTo>
                <a:lnTo>
                  <a:pt x="491326" y="475972"/>
                </a:lnTo>
                <a:lnTo>
                  <a:pt x="0" y="475972"/>
                </a:lnTo>
                <a:lnTo>
                  <a:pt x="0" y="0"/>
                </a:lnTo>
                <a:close/>
              </a:path>
            </a:pathLst>
          </a:custGeom>
          <a:blipFill>
            <a:blip r:embed="rId2">
              <a:extLst>
                <a:ext uri="{96DAC541-7B7A-43D3-8B79-37D633B846F1}">
                  <asvg:svgBlip xmlns="" xmlns:asvg="http://schemas.microsoft.com/office/drawing/2016/SVG/main" r:embed="rId18"/>
                </a:ext>
              </a:extLst>
            </a:blip>
            <a:stretch>
              <a:fillRect/>
            </a:stretch>
          </a:blipFill>
        </p:spPr>
      </p:sp>
      <p:sp>
        <p:nvSpPr>
          <p:cNvPr id="15" name="TextBox 15"/>
          <p:cNvSpPr txBox="1"/>
          <p:nvPr/>
        </p:nvSpPr>
        <p:spPr>
          <a:xfrm>
            <a:off x="6172122" y="-841080"/>
            <a:ext cx="11864154" cy="1921232"/>
          </a:xfrm>
          <a:prstGeom prst="rect">
            <a:avLst/>
          </a:prstGeom>
        </p:spPr>
        <p:txBody>
          <a:bodyPr wrap="square" lIns="0" tIns="0" rIns="0" bIns="0" rtlCol="0" anchor="t">
            <a:spAutoFit/>
          </a:bodyPr>
          <a:lstStyle/>
          <a:p>
            <a:pPr>
              <a:lnSpc>
                <a:spcPts val="18148"/>
              </a:lnSpc>
            </a:pPr>
            <a:r>
              <a:rPr lang="en-US" sz="6000" b="1" dirty="0" smtClean="0">
                <a:latin typeface="Times New Roman" panose="02020603050405020304" pitchFamily="18" charset="0"/>
                <a:cs typeface="Times New Roman" panose="02020603050405020304" pitchFamily="18" charset="0"/>
                <a:sym typeface="Oswald Bold"/>
              </a:rPr>
              <a:t>References</a:t>
            </a:r>
            <a:endParaRPr lang="en-US" sz="6000" b="1" dirty="0">
              <a:solidFill>
                <a:srgbClr val="00296B"/>
              </a:solidFill>
              <a:latin typeface="Times New Roman" panose="02020603050405020304" pitchFamily="18" charset="0"/>
              <a:ea typeface="Oswald Bold"/>
              <a:cs typeface="Times New Roman" panose="02020603050405020304" pitchFamily="18" charset="0"/>
              <a:sym typeface="Oswald Bold"/>
            </a:endParaRPr>
          </a:p>
        </p:txBody>
      </p:sp>
      <p:sp>
        <p:nvSpPr>
          <p:cNvPr id="16" name="TextBox 16"/>
          <p:cNvSpPr txBox="1"/>
          <p:nvPr/>
        </p:nvSpPr>
        <p:spPr>
          <a:xfrm>
            <a:off x="2286371" y="1012126"/>
            <a:ext cx="4885695" cy="522182"/>
          </a:xfrm>
          <a:prstGeom prst="rect">
            <a:avLst/>
          </a:prstGeom>
        </p:spPr>
        <p:txBody>
          <a:bodyPr lIns="0" tIns="0" rIns="0" bIns="0" rtlCol="0" anchor="t">
            <a:spAutoFit/>
          </a:bodyPr>
          <a:lstStyle/>
          <a:p>
            <a:pPr algn="just">
              <a:lnSpc>
                <a:spcPts val="4293"/>
              </a:lnSpc>
              <a:spcBef>
                <a:spcPct val="0"/>
              </a:spcBef>
            </a:pPr>
            <a:endParaRPr lang="en-US" sz="3066" b="1" dirty="0">
              <a:solidFill>
                <a:srgbClr val="00296B"/>
              </a:solidFill>
              <a:latin typeface="Inter Bold"/>
              <a:ea typeface="Inter Bold"/>
              <a:cs typeface="Inter Bold"/>
              <a:sym typeface="Inter Bold"/>
            </a:endParaRPr>
          </a:p>
        </p:txBody>
      </p:sp>
      <p:sp>
        <p:nvSpPr>
          <p:cNvPr id="22" name="TextBox 22"/>
          <p:cNvSpPr txBox="1"/>
          <p:nvPr/>
        </p:nvSpPr>
        <p:spPr>
          <a:xfrm>
            <a:off x="615244" y="1660009"/>
            <a:ext cx="16986956" cy="8309967"/>
          </a:xfrm>
          <a:prstGeom prst="rect">
            <a:avLst/>
          </a:prstGeom>
        </p:spPr>
        <p:txBody>
          <a:bodyPr wrap="square" lIns="0" tIns="0" rIns="0" bIns="0" rtlCol="0" anchor="t">
            <a:spAutoFit/>
          </a:bodyPr>
          <a:lstStyle/>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Akbarpour</a:t>
            </a:r>
            <a:r>
              <a:rPr lang="en-US" sz="3600" dirty="0">
                <a:latin typeface="Times New Roman" panose="02020603050405020304" pitchFamily="18" charset="0"/>
                <a:cs typeface="Times New Roman" panose="02020603050405020304" pitchFamily="18" charset="0"/>
              </a:rPr>
              <a:t>, N., Mirza, A.S., </a:t>
            </a:r>
            <a:r>
              <a:rPr lang="en-US" sz="3600" dirty="0" err="1">
                <a:latin typeface="Times New Roman" panose="02020603050405020304" pitchFamily="18" charset="0"/>
                <a:cs typeface="Times New Roman" panose="02020603050405020304" pitchFamily="18" charset="0"/>
              </a:rPr>
              <a:t>Raoofian</a:t>
            </a:r>
            <a:r>
              <a:rPr lang="en-US" sz="3600" dirty="0">
                <a:latin typeface="Times New Roman" panose="02020603050405020304" pitchFamily="18" charset="0"/>
                <a:cs typeface="Times New Roman" panose="02020603050405020304" pitchFamily="18" charset="0"/>
              </a:rPr>
              <a:t>, E., </a:t>
            </a:r>
            <a:r>
              <a:rPr lang="en-US" sz="3600" dirty="0" err="1">
                <a:latin typeface="Times New Roman" panose="02020603050405020304" pitchFamily="18" charset="0"/>
                <a:cs typeface="Times New Roman" panose="02020603050405020304" pitchFamily="18" charset="0"/>
              </a:rPr>
              <a:t>Fard</a:t>
            </a:r>
            <a:r>
              <a:rPr lang="en-US" sz="3600" dirty="0">
                <a:latin typeface="Times New Roman" panose="02020603050405020304" pitchFamily="18" charset="0"/>
                <a:cs typeface="Times New Roman" panose="02020603050405020304" pitchFamily="18" charset="0"/>
              </a:rPr>
              <a:t>, F.H. and Rodríguez-Pérez, G. (2025) </a:t>
            </a:r>
            <a:r>
              <a:rPr lang="en-US" sz="3600" i="1" dirty="0">
                <a:latin typeface="Times New Roman" panose="02020603050405020304" pitchFamily="18" charset="0"/>
                <a:cs typeface="Times New Roman" panose="02020603050405020304" pitchFamily="18" charset="0"/>
              </a:rPr>
              <a:t>Unveiling Ruby: Insights from Stack Overflow and Developer Survey</a:t>
            </a:r>
            <a:r>
              <a:rPr lang="en-US" sz="3600" dirty="0">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Benis</a:t>
            </a:r>
            <a:r>
              <a:rPr lang="en-US" sz="3600" dirty="0">
                <a:latin typeface="Times New Roman" panose="02020603050405020304" pitchFamily="18" charset="0"/>
                <a:cs typeface="Times New Roman" panose="02020603050405020304" pitchFamily="18" charset="0"/>
              </a:rPr>
              <a:t>, M.S., </a:t>
            </a:r>
            <a:r>
              <a:rPr lang="en-US" sz="3600" dirty="0" err="1">
                <a:latin typeface="Times New Roman" panose="02020603050405020304" pitchFamily="18" charset="0"/>
                <a:cs typeface="Times New Roman" panose="02020603050405020304" pitchFamily="18" charset="0"/>
              </a:rPr>
              <a:t>Akbarpour</a:t>
            </a:r>
            <a:r>
              <a:rPr lang="en-US" sz="3600" dirty="0">
                <a:latin typeface="Times New Roman" panose="02020603050405020304" pitchFamily="18" charset="0"/>
                <a:cs typeface="Times New Roman" panose="02020603050405020304" pitchFamily="18" charset="0"/>
              </a:rPr>
              <a:t>, N., </a:t>
            </a:r>
            <a:r>
              <a:rPr lang="en-US" sz="3600" dirty="0" err="1">
                <a:latin typeface="Times New Roman" panose="02020603050405020304" pitchFamily="18" charset="0"/>
                <a:cs typeface="Times New Roman" panose="02020603050405020304" pitchFamily="18" charset="0"/>
              </a:rPr>
              <a:t>Fard</a:t>
            </a:r>
            <a:r>
              <a:rPr lang="en-US" sz="3600" dirty="0">
                <a:latin typeface="Times New Roman" panose="02020603050405020304" pitchFamily="18" charset="0"/>
                <a:cs typeface="Times New Roman" panose="02020603050405020304" pitchFamily="18" charset="0"/>
              </a:rPr>
              <a:t>, F.H., </a:t>
            </a:r>
            <a:r>
              <a:rPr lang="en-US" sz="3600" dirty="0" err="1">
                <a:latin typeface="Times New Roman" panose="02020603050405020304" pitchFamily="18" charset="0"/>
                <a:cs typeface="Times New Roman" panose="02020603050405020304" pitchFamily="18" charset="0"/>
              </a:rPr>
              <a:t>Ouni</a:t>
            </a:r>
            <a:r>
              <a:rPr lang="en-US" sz="3600" dirty="0">
                <a:latin typeface="Times New Roman" panose="02020603050405020304" pitchFamily="18" charset="0"/>
                <a:cs typeface="Times New Roman" panose="02020603050405020304" pitchFamily="18" charset="0"/>
              </a:rPr>
              <a:t>, A. and Saied, M.A. (2025) </a:t>
            </a:r>
            <a:r>
              <a:rPr lang="en-US" sz="3600" i="1" dirty="0">
                <a:latin typeface="Times New Roman" panose="02020603050405020304" pitchFamily="18" charset="0"/>
                <a:cs typeface="Times New Roman" panose="02020603050405020304" pitchFamily="18" charset="0"/>
              </a:rPr>
              <a:t>Collaborative Agents for Automated Program Repair in Ruby</a:t>
            </a:r>
            <a:r>
              <a:rPr lang="en-US" sz="3600" dirty="0">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Chen, F., </a:t>
            </a:r>
            <a:r>
              <a:rPr lang="en-US" sz="3600" dirty="0" err="1">
                <a:latin typeface="Times New Roman" panose="02020603050405020304" pitchFamily="18" charset="0"/>
                <a:cs typeface="Times New Roman" panose="02020603050405020304" pitchFamily="18" charset="0"/>
              </a:rPr>
              <a:t>Fard</a:t>
            </a:r>
            <a:r>
              <a:rPr lang="en-US" sz="3600" dirty="0">
                <a:latin typeface="Times New Roman" panose="02020603050405020304" pitchFamily="18" charset="0"/>
                <a:cs typeface="Times New Roman" panose="02020603050405020304" pitchFamily="18" charset="0"/>
              </a:rPr>
              <a:t>, F., Lo, D. and </a:t>
            </a:r>
            <a:r>
              <a:rPr lang="en-US" sz="3600" dirty="0" err="1">
                <a:latin typeface="Times New Roman" panose="02020603050405020304" pitchFamily="18" charset="0"/>
                <a:cs typeface="Times New Roman" panose="02020603050405020304" pitchFamily="18" charset="0"/>
              </a:rPr>
              <a:t>Bryksin</a:t>
            </a:r>
            <a:r>
              <a:rPr lang="en-US" sz="3600" dirty="0">
                <a:latin typeface="Times New Roman" panose="02020603050405020304" pitchFamily="18" charset="0"/>
                <a:cs typeface="Times New Roman" panose="02020603050405020304" pitchFamily="18" charset="0"/>
              </a:rPr>
              <a:t>, T. (2022) </a:t>
            </a:r>
            <a:r>
              <a:rPr lang="en-US" sz="3600" i="1" dirty="0">
                <a:latin typeface="Times New Roman" panose="02020603050405020304" pitchFamily="18" charset="0"/>
                <a:cs typeface="Times New Roman" panose="02020603050405020304" pitchFamily="18" charset="0"/>
              </a:rPr>
              <a:t>On the Transferability of Pre-trained Language Models for Low-Resource Programming Languages</a:t>
            </a:r>
            <a:r>
              <a:rPr lang="en-US" sz="3600" dirty="0">
                <a:latin typeface="Times New Roman" panose="02020603050405020304" pitchFamily="18" charset="0"/>
                <a:cs typeface="Times New Roman" panose="02020603050405020304" pitchFamily="18" charset="0"/>
              </a:rPr>
              <a:t>.</a:t>
            </a:r>
          </a:p>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Heurich</a:t>
            </a:r>
            <a:r>
              <a:rPr lang="en-US" sz="3600" dirty="0">
                <a:latin typeface="Times New Roman" panose="02020603050405020304" pitchFamily="18" charset="0"/>
                <a:cs typeface="Times New Roman" panose="02020603050405020304" pitchFamily="18" charset="0"/>
              </a:rPr>
              <a:t>, G.O., (2024). </a:t>
            </a:r>
            <a:r>
              <a:rPr lang="en-US" sz="3600" i="1" dirty="0" err="1">
                <a:latin typeface="Times New Roman" panose="02020603050405020304" pitchFamily="18" charset="0"/>
                <a:cs typeface="Times New Roman" panose="02020603050405020304" pitchFamily="18" charset="0"/>
              </a:rPr>
              <a:t>Coderspeak</a:t>
            </a:r>
            <a:r>
              <a:rPr lang="en-US" sz="3600" i="1" dirty="0">
                <a:latin typeface="Times New Roman" panose="02020603050405020304" pitchFamily="18" charset="0"/>
                <a:cs typeface="Times New Roman" panose="02020603050405020304" pitchFamily="18" charset="0"/>
              </a:rPr>
              <a:t>: The language of computer programmers</a:t>
            </a:r>
            <a:r>
              <a:rPr lang="en-US" sz="3600" dirty="0">
                <a:latin typeface="Times New Roman" panose="02020603050405020304" pitchFamily="18" charset="0"/>
                <a:cs typeface="Times New Roman" panose="02020603050405020304" pitchFamily="18" charset="0"/>
              </a:rPr>
              <a:t>. UCL Press.</a:t>
            </a:r>
          </a:p>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Klochkov</a:t>
            </a:r>
            <a:r>
              <a:rPr lang="en-US" sz="3600" dirty="0">
                <a:latin typeface="Times New Roman" panose="02020603050405020304" pitchFamily="18" charset="0"/>
                <a:cs typeface="Times New Roman" panose="02020603050405020304" pitchFamily="18" charset="0"/>
              </a:rPr>
              <a:t>, D. and </a:t>
            </a:r>
            <a:r>
              <a:rPr lang="en-US" sz="3600" dirty="0" err="1">
                <a:latin typeface="Times New Roman" panose="02020603050405020304" pitchFamily="18" charset="0"/>
                <a:cs typeface="Times New Roman" panose="02020603050405020304" pitchFamily="18" charset="0"/>
              </a:rPr>
              <a:t>Mulawka</a:t>
            </a:r>
            <a:r>
              <a:rPr lang="en-US" sz="3600" dirty="0">
                <a:latin typeface="Times New Roman" panose="02020603050405020304" pitchFamily="18" charset="0"/>
                <a:cs typeface="Times New Roman" panose="02020603050405020304" pitchFamily="18" charset="0"/>
              </a:rPr>
              <a:t>, J. (2021) </a:t>
            </a:r>
            <a:r>
              <a:rPr lang="en-US" sz="3600" i="1" dirty="0">
                <a:latin typeface="Times New Roman" panose="02020603050405020304" pitchFamily="18" charset="0"/>
                <a:cs typeface="Times New Roman" panose="02020603050405020304" pitchFamily="18" charset="0"/>
              </a:rPr>
              <a:t>Improving Ruby on Rails-Based Web Application Performance</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Information</a:t>
            </a:r>
            <a:r>
              <a:rPr lang="en-US" sz="3600" dirty="0">
                <a:latin typeface="Times New Roman" panose="02020603050405020304" pitchFamily="18" charset="0"/>
                <a:cs typeface="Times New Roman" panose="02020603050405020304" pitchFamily="18" charset="0"/>
              </a:rPr>
              <a:t>, 12(8), 319.</a:t>
            </a:r>
          </a:p>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Tripathi</a:t>
            </a:r>
            <a:r>
              <a:rPr lang="en-US" sz="3600" dirty="0">
                <a:latin typeface="Times New Roman" panose="02020603050405020304" pitchFamily="18" charset="0"/>
                <a:cs typeface="Times New Roman" panose="02020603050405020304" pitchFamily="18" charset="0"/>
              </a:rPr>
              <a:t>, M., Jain, D., Sharma, K., </a:t>
            </a:r>
            <a:r>
              <a:rPr lang="en-US" sz="3600" dirty="0" err="1">
                <a:latin typeface="Times New Roman" panose="02020603050405020304" pitchFamily="18" charset="0"/>
                <a:cs typeface="Times New Roman" panose="02020603050405020304" pitchFamily="18" charset="0"/>
              </a:rPr>
              <a:t>Anuradha</a:t>
            </a:r>
            <a:r>
              <a:rPr lang="en-US" sz="3600" dirty="0">
                <a:latin typeface="Times New Roman" panose="02020603050405020304" pitchFamily="18" charset="0"/>
                <a:cs typeface="Times New Roman" panose="02020603050405020304" pitchFamily="18" charset="0"/>
              </a:rPr>
              <a:t> and </a:t>
            </a:r>
            <a:r>
              <a:rPr lang="en-US" sz="3600" dirty="0" err="1">
                <a:latin typeface="Times New Roman" panose="02020603050405020304" pitchFamily="18" charset="0"/>
                <a:cs typeface="Times New Roman" panose="02020603050405020304" pitchFamily="18" charset="0"/>
              </a:rPr>
              <a:t>Daulatram</a:t>
            </a:r>
            <a:r>
              <a:rPr lang="en-US" sz="3600" dirty="0">
                <a:latin typeface="Times New Roman" panose="02020603050405020304" pitchFamily="18" charset="0"/>
                <a:cs typeface="Times New Roman" panose="02020603050405020304" pitchFamily="18" charset="0"/>
              </a:rPr>
              <a:t> (2024) ‘Web Development Framework’, </a:t>
            </a:r>
            <a:r>
              <a:rPr lang="en-US" sz="3600" i="1" dirty="0">
                <a:latin typeface="Times New Roman" panose="02020603050405020304" pitchFamily="18" charset="0"/>
                <a:cs typeface="Times New Roman" panose="02020603050405020304" pitchFamily="18" charset="0"/>
              </a:rPr>
              <a:t>International Journal of Advanced Research in Science Communication and Technology</a:t>
            </a:r>
            <a:endParaRPr lang="en-US" sz="3600" dirty="0">
              <a:latin typeface="Times New Roman" panose="02020603050405020304" pitchFamily="18" charset="0"/>
              <a:cs typeface="Times New Roman" panose="02020603050405020304" pitchFamily="18" charset="0"/>
            </a:endParaRPr>
          </a:p>
          <a:p>
            <a:pPr marL="571500" indent="-571500" algn="just">
              <a:buFont typeface="Arial" panose="020B0604020202020204" pitchFamily="34" charset="0"/>
              <a:buChar char="•"/>
            </a:pPr>
            <a:r>
              <a:rPr lang="en-US" sz="3600" dirty="0" err="1">
                <a:latin typeface="Times New Roman" panose="02020603050405020304" pitchFamily="18" charset="0"/>
                <a:cs typeface="Times New Roman" panose="02020603050405020304" pitchFamily="18" charset="0"/>
              </a:rPr>
              <a:t>Zipdo</a:t>
            </a:r>
            <a:r>
              <a:rPr lang="en-US" sz="3600" dirty="0">
                <a:latin typeface="Times New Roman" panose="02020603050405020304" pitchFamily="18" charset="0"/>
                <a:cs typeface="Times New Roman" panose="02020603050405020304" pitchFamily="18" charset="0"/>
              </a:rPr>
              <a:t> (2026) </a:t>
            </a:r>
            <a:r>
              <a:rPr lang="en-US" sz="3600" i="1" dirty="0">
                <a:latin typeface="Times New Roman" panose="02020603050405020304" pitchFamily="18" charset="0"/>
                <a:cs typeface="Times New Roman" panose="02020603050405020304" pitchFamily="18" charset="0"/>
              </a:rPr>
              <a:t>Ruby Statistics and Industry Trends Report</a:t>
            </a:r>
            <a:r>
              <a:rPr lang="en-US" sz="3600" dirty="0">
                <a:latin typeface="Times New Roman" panose="02020603050405020304" pitchFamily="18" charset="0"/>
                <a:cs typeface="Times New Roman" panose="02020603050405020304" pitchFamily="18" charset="0"/>
              </a:rPr>
              <a:t>. </a:t>
            </a:r>
            <a:r>
              <a:rPr lang="en-US" sz="3600" u="sng" dirty="0">
                <a:latin typeface="Times New Roman" panose="02020603050405020304" pitchFamily="18" charset="0"/>
                <a:cs typeface="Times New Roman" panose="02020603050405020304" pitchFamily="18" charset="0"/>
                <a:hlinkClick r:id="rId19"/>
              </a:rPr>
              <a:t>https://zipdo.co/transformation-statistics/</a:t>
            </a:r>
            <a:r>
              <a:rPr lang="en-US" sz="3600" dirty="0">
                <a:latin typeface="Times New Roman" panose="02020603050405020304" pitchFamily="18" charset="0"/>
                <a:cs typeface="Times New Roman" panose="02020603050405020304" pitchFamily="18" charset="0"/>
              </a:rPr>
              <a:t> (Accessed: </a:t>
            </a:r>
            <a:r>
              <a:rPr lang="en-US" sz="3600" dirty="0" smtClean="0">
                <a:latin typeface="Times New Roman" panose="02020603050405020304" pitchFamily="18" charset="0"/>
                <a:cs typeface="Times New Roman" panose="02020603050405020304" pitchFamily="18" charset="0"/>
              </a:rPr>
              <a:t>14 April 2026</a:t>
            </a:r>
            <a:r>
              <a:rPr lang="en-US" sz="3600" dirty="0">
                <a:latin typeface="Times New Roman" panose="02020603050405020304" pitchFamily="18" charset="0"/>
                <a:cs typeface="Times New Roman" panose="02020603050405020304" pitchFamily="18" charset="0"/>
              </a:rPr>
              <a:t>)</a:t>
            </a:r>
          </a:p>
        </p:txBody>
      </p:sp>
      <p:grpSp>
        <p:nvGrpSpPr>
          <p:cNvPr id="23" name="Group 23"/>
          <p:cNvGrpSpPr/>
          <p:nvPr/>
        </p:nvGrpSpPr>
        <p:grpSpPr>
          <a:xfrm>
            <a:off x="10522294" y="8523777"/>
            <a:ext cx="2617245" cy="875313"/>
            <a:chOff x="0" y="0"/>
            <a:chExt cx="3489660" cy="1167085"/>
          </a:xfrm>
        </p:grpSpPr>
        <p:sp>
          <p:nvSpPr>
            <p:cNvPr id="24" name="Freeform 24"/>
            <p:cNvSpPr/>
            <p:nvPr/>
          </p:nvSpPr>
          <p:spPr>
            <a:xfrm>
              <a:off x="0" y="0"/>
              <a:ext cx="325850" cy="329068"/>
            </a:xfrm>
            <a:custGeom>
              <a:avLst/>
              <a:gdLst/>
              <a:ahLst/>
              <a:cxnLst/>
              <a:rect l="l" t="t" r="r" b="b"/>
              <a:pathLst>
                <a:path w="325850" h="329068">
                  <a:moveTo>
                    <a:pt x="0" y="0"/>
                  </a:moveTo>
                  <a:lnTo>
                    <a:pt x="325850" y="0"/>
                  </a:lnTo>
                  <a:lnTo>
                    <a:pt x="325850" y="329068"/>
                  </a:lnTo>
                  <a:lnTo>
                    <a:pt x="0" y="329068"/>
                  </a:lnTo>
                  <a:lnTo>
                    <a:pt x="0" y="0"/>
                  </a:lnTo>
                  <a:close/>
                </a:path>
              </a:pathLst>
            </a:custGeom>
            <a:blipFill>
              <a:blip r:embed="rId20">
                <a:alphaModFix amt="19999"/>
                <a:extLst>
                  <a:ext uri="{96DAC541-7B7A-43D3-8B79-37D633B846F1}">
                    <asvg:svgBlip xmlns="" xmlns:asvg="http://schemas.microsoft.com/office/drawing/2016/SVG/main" r:embed="rId22"/>
                  </a:ext>
                </a:extLst>
              </a:blip>
              <a:stretch>
                <a:fillRect l="-445475" t="-272482" b="-378581"/>
              </a:stretch>
            </a:blipFill>
          </p:spPr>
        </p:sp>
        <p:sp>
          <p:nvSpPr>
            <p:cNvPr id="25" name="Freeform 25"/>
            <p:cNvSpPr/>
            <p:nvPr/>
          </p:nvSpPr>
          <p:spPr>
            <a:xfrm>
              <a:off x="2109206" y="0"/>
              <a:ext cx="325850" cy="327369"/>
            </a:xfrm>
            <a:custGeom>
              <a:avLst/>
              <a:gdLst/>
              <a:ahLst/>
              <a:cxnLst/>
              <a:rect l="l" t="t" r="r" b="b"/>
              <a:pathLst>
                <a:path w="325850" h="327369">
                  <a:moveTo>
                    <a:pt x="0" y="0"/>
                  </a:moveTo>
                  <a:lnTo>
                    <a:pt x="325850" y="0"/>
                  </a:lnTo>
                  <a:lnTo>
                    <a:pt x="325850" y="327369"/>
                  </a:lnTo>
                  <a:lnTo>
                    <a:pt x="0" y="327369"/>
                  </a:lnTo>
                  <a:lnTo>
                    <a:pt x="0" y="0"/>
                  </a:lnTo>
                  <a:close/>
                </a:path>
              </a:pathLst>
            </a:custGeom>
            <a:blipFill>
              <a:blip r:embed="rId23">
                <a:alphaModFix amt="19999"/>
                <a:extLst>
                  <a:ext uri="{96DAC541-7B7A-43D3-8B79-37D633B846F1}">
                    <asvg:svgBlip xmlns="" xmlns:asvg="http://schemas.microsoft.com/office/drawing/2016/SVG/main" r:embed="rId24"/>
                  </a:ext>
                </a:extLst>
              </a:blip>
              <a:stretch>
                <a:fillRect l="-66452" t="-78640" r="-490281" b="-655409"/>
              </a:stretch>
            </a:blipFill>
          </p:spPr>
        </p:sp>
        <p:sp>
          <p:nvSpPr>
            <p:cNvPr id="26" name="Freeform 26"/>
            <p:cNvSpPr/>
            <p:nvPr/>
          </p:nvSpPr>
          <p:spPr>
            <a:xfrm>
              <a:off x="3163810" y="0"/>
              <a:ext cx="325850" cy="325850"/>
            </a:xfrm>
            <a:custGeom>
              <a:avLst/>
              <a:gdLst/>
              <a:ahLst/>
              <a:cxnLst/>
              <a:rect l="l" t="t" r="r" b="b"/>
              <a:pathLst>
                <a:path w="325850" h="325850">
                  <a:moveTo>
                    <a:pt x="0" y="0"/>
                  </a:moveTo>
                  <a:lnTo>
                    <a:pt x="325850" y="0"/>
                  </a:lnTo>
                  <a:lnTo>
                    <a:pt x="325850" y="325850"/>
                  </a:lnTo>
                  <a:lnTo>
                    <a:pt x="0" y="325850"/>
                  </a:lnTo>
                  <a:lnTo>
                    <a:pt x="0" y="0"/>
                  </a:lnTo>
                  <a:close/>
                </a:path>
              </a:pathLst>
            </a:custGeom>
            <a:blipFill>
              <a:blip r:embed="rId25">
                <a:alphaModFix amt="19999"/>
                <a:extLst>
                  <a:ext uri="{96DAC541-7B7A-43D3-8B79-37D633B846F1}">
                    <asvg:svgBlip xmlns="" xmlns:asvg="http://schemas.microsoft.com/office/drawing/2016/SVG/main" r:embed="rId26"/>
                  </a:ext>
                </a:extLst>
              </a:blip>
              <a:stretch>
                <a:fillRect l="-136594" t="-450599" r="-594854" b="-309891"/>
              </a:stretch>
            </a:blipFill>
          </p:spPr>
        </p:sp>
        <p:sp>
          <p:nvSpPr>
            <p:cNvPr id="27" name="Freeform 27"/>
            <p:cNvSpPr/>
            <p:nvPr/>
          </p:nvSpPr>
          <p:spPr>
            <a:xfrm>
              <a:off x="1054603" y="0"/>
              <a:ext cx="325850" cy="325850"/>
            </a:xfrm>
            <a:custGeom>
              <a:avLst/>
              <a:gdLst/>
              <a:ahLst/>
              <a:cxnLst/>
              <a:rect l="l" t="t" r="r" b="b"/>
              <a:pathLst>
                <a:path w="325850" h="325850">
                  <a:moveTo>
                    <a:pt x="0" y="0"/>
                  </a:moveTo>
                  <a:lnTo>
                    <a:pt x="325850" y="0"/>
                  </a:lnTo>
                  <a:lnTo>
                    <a:pt x="325850" y="325850"/>
                  </a:lnTo>
                  <a:lnTo>
                    <a:pt x="0" y="325850"/>
                  </a:lnTo>
                  <a:lnTo>
                    <a:pt x="0" y="0"/>
                  </a:lnTo>
                  <a:close/>
                </a:path>
              </a:pathLst>
            </a:custGeom>
            <a:blipFill>
              <a:blip r:embed="rId27">
                <a:alphaModFix amt="19999"/>
                <a:extLst>
                  <a:ext uri="{96DAC541-7B7A-43D3-8B79-37D633B846F1}">
                    <asvg:svgBlip xmlns="" xmlns:asvg="http://schemas.microsoft.com/office/drawing/2016/SVG/main" r:embed="rId28"/>
                  </a:ext>
                </a:extLst>
              </a:blip>
              <a:stretch>
                <a:fillRect l="-160262" t="-3793" r="-428278" b="-903213"/>
              </a:stretch>
            </a:blipFill>
          </p:spPr>
        </p:sp>
        <p:sp>
          <p:nvSpPr>
            <p:cNvPr id="28" name="Freeform 28"/>
            <p:cNvSpPr/>
            <p:nvPr/>
          </p:nvSpPr>
          <p:spPr>
            <a:xfrm>
              <a:off x="1054603" y="839452"/>
              <a:ext cx="325850" cy="323916"/>
            </a:xfrm>
            <a:custGeom>
              <a:avLst/>
              <a:gdLst/>
              <a:ahLst/>
              <a:cxnLst/>
              <a:rect l="l" t="t" r="r" b="b"/>
              <a:pathLst>
                <a:path w="325850" h="323916">
                  <a:moveTo>
                    <a:pt x="0" y="0"/>
                  </a:moveTo>
                  <a:lnTo>
                    <a:pt x="325850" y="0"/>
                  </a:lnTo>
                  <a:lnTo>
                    <a:pt x="325850" y="323916"/>
                  </a:lnTo>
                  <a:lnTo>
                    <a:pt x="0" y="323916"/>
                  </a:lnTo>
                  <a:lnTo>
                    <a:pt x="0" y="0"/>
                  </a:lnTo>
                  <a:close/>
                </a:path>
              </a:pathLst>
            </a:custGeom>
            <a:blipFill>
              <a:blip r:embed="rId29">
                <a:alphaModFix amt="19999"/>
                <a:extLst>
                  <a:ext uri="{96DAC541-7B7A-43D3-8B79-37D633B846F1}">
                    <asvg:svgBlip xmlns="" xmlns:asvg="http://schemas.microsoft.com/office/drawing/2016/SVG/main" r:embed="rId30"/>
                  </a:ext>
                </a:extLst>
              </a:blip>
              <a:stretch>
                <a:fillRect l="-259699" t="-234300" r="-615443" b="-221171"/>
              </a:stretch>
            </a:blipFill>
          </p:spPr>
        </p:sp>
        <p:sp>
          <p:nvSpPr>
            <p:cNvPr id="29" name="Freeform 29"/>
            <p:cNvSpPr/>
            <p:nvPr/>
          </p:nvSpPr>
          <p:spPr>
            <a:xfrm>
              <a:off x="2109206" y="840971"/>
              <a:ext cx="325850" cy="324392"/>
            </a:xfrm>
            <a:custGeom>
              <a:avLst/>
              <a:gdLst/>
              <a:ahLst/>
              <a:cxnLst/>
              <a:rect l="l" t="t" r="r" b="b"/>
              <a:pathLst>
                <a:path w="325850" h="324392">
                  <a:moveTo>
                    <a:pt x="0" y="0"/>
                  </a:moveTo>
                  <a:lnTo>
                    <a:pt x="325850" y="0"/>
                  </a:lnTo>
                  <a:lnTo>
                    <a:pt x="325850" y="324392"/>
                  </a:lnTo>
                  <a:lnTo>
                    <a:pt x="0" y="324392"/>
                  </a:lnTo>
                  <a:lnTo>
                    <a:pt x="0" y="0"/>
                  </a:lnTo>
                  <a:close/>
                </a:path>
              </a:pathLst>
            </a:custGeom>
            <a:blipFill>
              <a:blip r:embed="rId31">
                <a:alphaModFix amt="19999"/>
                <a:extLst>
                  <a:ext uri="{96DAC541-7B7A-43D3-8B79-37D633B846F1}">
                    <asvg:svgBlip xmlns="" xmlns:asvg="http://schemas.microsoft.com/office/drawing/2016/SVG/main" r:embed="rId32"/>
                  </a:ext>
                </a:extLst>
              </a:blip>
              <a:stretch>
                <a:fillRect l="-374431" t="-69477" r="-78376" b="-395705"/>
              </a:stretch>
            </a:blipFill>
          </p:spPr>
        </p:sp>
        <p:sp>
          <p:nvSpPr>
            <p:cNvPr id="30" name="Freeform 30"/>
            <p:cNvSpPr/>
            <p:nvPr/>
          </p:nvSpPr>
          <p:spPr>
            <a:xfrm>
              <a:off x="0" y="842670"/>
              <a:ext cx="325850" cy="324414"/>
            </a:xfrm>
            <a:custGeom>
              <a:avLst/>
              <a:gdLst/>
              <a:ahLst/>
              <a:cxnLst/>
              <a:rect l="l" t="t" r="r" b="b"/>
              <a:pathLst>
                <a:path w="325850" h="324414">
                  <a:moveTo>
                    <a:pt x="0" y="0"/>
                  </a:moveTo>
                  <a:lnTo>
                    <a:pt x="325850" y="0"/>
                  </a:lnTo>
                  <a:lnTo>
                    <a:pt x="325850" y="324415"/>
                  </a:lnTo>
                  <a:lnTo>
                    <a:pt x="0" y="324415"/>
                  </a:lnTo>
                  <a:lnTo>
                    <a:pt x="0" y="0"/>
                  </a:lnTo>
                  <a:close/>
                </a:path>
              </a:pathLst>
            </a:custGeom>
            <a:blipFill>
              <a:blip r:embed="rId33">
                <a:alphaModFix amt="19999"/>
                <a:extLst>
                  <a:ext uri="{96DAC541-7B7A-43D3-8B79-37D633B846F1}">
                    <asvg:svgBlip xmlns="" xmlns:asvg="http://schemas.microsoft.com/office/drawing/2016/SVG/main" r:embed="rId34"/>
                  </a:ext>
                </a:extLst>
              </a:blip>
              <a:stretch>
                <a:fillRect l="-656435" t="-65050" r="-66000" b="-760523"/>
              </a:stretch>
            </a:blipFill>
          </p:spPr>
        </p:sp>
        <p:sp>
          <p:nvSpPr>
            <p:cNvPr id="31" name="Freeform 31"/>
            <p:cNvSpPr/>
            <p:nvPr/>
          </p:nvSpPr>
          <p:spPr>
            <a:xfrm>
              <a:off x="3163810" y="839452"/>
              <a:ext cx="325850" cy="326443"/>
            </a:xfrm>
            <a:custGeom>
              <a:avLst/>
              <a:gdLst/>
              <a:ahLst/>
              <a:cxnLst/>
              <a:rect l="l" t="t" r="r" b="b"/>
              <a:pathLst>
                <a:path w="325850" h="326443">
                  <a:moveTo>
                    <a:pt x="0" y="0"/>
                  </a:moveTo>
                  <a:lnTo>
                    <a:pt x="325850" y="0"/>
                  </a:lnTo>
                  <a:lnTo>
                    <a:pt x="325850" y="326443"/>
                  </a:lnTo>
                  <a:lnTo>
                    <a:pt x="0" y="326443"/>
                  </a:lnTo>
                  <a:lnTo>
                    <a:pt x="0" y="0"/>
                  </a:lnTo>
                  <a:close/>
                </a:path>
              </a:pathLst>
            </a:custGeom>
            <a:blipFill>
              <a:blip r:embed="rId35">
                <a:alphaModFix amt="19999"/>
                <a:extLst>
                  <a:ext uri="{96DAC541-7B7A-43D3-8B79-37D633B846F1}">
                    <asvg:svgBlip xmlns="" xmlns:asvg="http://schemas.microsoft.com/office/drawing/2016/SVG/main" r:embed="rId36"/>
                  </a:ext>
                </a:extLst>
              </a:blip>
              <a:stretch>
                <a:fillRect l="-379070" t="-198840" r="-46137" b="-225413"/>
              </a:stretch>
            </a:blipFill>
          </p:spPr>
        </p:sp>
      </p:grpSp>
    </p:spTree>
    <p:extLst>
      <p:ext uri="{BB962C8B-B14F-4D97-AF65-F5344CB8AC3E}">
        <p14:creationId xmlns:p14="http://schemas.microsoft.com/office/powerpoint/2010/main" val="224722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1941</Words>
  <Application>Microsoft Office PowerPoint</Application>
  <PresentationFormat>Custom</PresentationFormat>
  <Paragraphs>76</Paragraphs>
  <Slides>11</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Calibri</vt:lpstr>
      <vt:lpstr>Inter Semi-Bold</vt:lpstr>
      <vt:lpstr>Oswald Bold</vt:lpstr>
      <vt:lpstr>Inter Bold</vt:lpstr>
      <vt:lpstr>Inter</vt:lpstr>
      <vt:lpstr>Times New Roman</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MIT</cp:lastModifiedBy>
  <cp:revision>28</cp:revision>
  <dcterms:created xsi:type="dcterms:W3CDTF">2006-08-16T00:00:00Z</dcterms:created>
  <dcterms:modified xsi:type="dcterms:W3CDTF">2026-04-14T12:23:52Z</dcterms:modified>
  <dc:identifier>DAHG0oLOa9E</dc:identifier>
</cp:coreProperties>
</file>