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40000"/>
          </a:solidFill>
          <a:ln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Ruby Programming Language</a:t>
            </a:r>
          </a:p>
        </p:txBody>
      </p:sp>
      <p:sp>
        <p:nvSpPr>
          <p:cNvPr id="4" name="Hexagon 3"/>
          <p:cNvSpPr/>
          <p:nvPr/>
        </p:nvSpPr>
        <p:spPr>
          <a:xfrm>
            <a:off x="10789920" y="914400"/>
            <a:ext cx="914400" cy="914400"/>
          </a:xfrm>
          <a:prstGeom prst="hexagon">
            <a:avLst/>
          </a:prstGeom>
          <a:solidFill>
            <a:srgbClr val="B40000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601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282828"/>
                </a:solidFill>
              </a:rPr>
              <a:t>• Dino Angelovski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282828"/>
                </a:solidFill>
              </a:rPr>
              <a:t>• CSIT 313 Fundamentals of Programming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282828"/>
                </a:solidFill>
              </a:rPr>
              <a:t>• Professional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40000"/>
          </a:solidFill>
          <a:ln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What is Ruby?</a:t>
            </a:r>
          </a:p>
        </p:txBody>
      </p:sp>
      <p:sp>
        <p:nvSpPr>
          <p:cNvPr id="4" name="Hexagon 3"/>
          <p:cNvSpPr/>
          <p:nvPr/>
        </p:nvSpPr>
        <p:spPr>
          <a:xfrm>
            <a:off x="10789920" y="914400"/>
            <a:ext cx="914400" cy="914400"/>
          </a:xfrm>
          <a:prstGeom prst="hexagon">
            <a:avLst/>
          </a:prstGeom>
          <a:solidFill>
            <a:srgbClr val="B40000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601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High-level language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Object-oriented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Dynamic typing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Readable syntax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Productive for developers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40000"/>
          </a:solidFill>
          <a:ln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History of Ruby</a:t>
            </a:r>
          </a:p>
        </p:txBody>
      </p:sp>
      <p:sp>
        <p:nvSpPr>
          <p:cNvPr id="4" name="Hexagon 3"/>
          <p:cNvSpPr/>
          <p:nvPr/>
        </p:nvSpPr>
        <p:spPr>
          <a:xfrm>
            <a:off x="10789920" y="914400"/>
            <a:ext cx="914400" cy="914400"/>
          </a:xfrm>
          <a:prstGeom prst="hexagon">
            <a:avLst/>
          </a:prstGeom>
          <a:solidFill>
            <a:srgbClr val="B40000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601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Created in 1995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By Yukihiro Matsumoto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Made in Japan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Popularized by Ruby on Rails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40000"/>
          </a:solidFill>
          <a:ln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Goal of Ruby</a:t>
            </a:r>
          </a:p>
        </p:txBody>
      </p:sp>
      <p:sp>
        <p:nvSpPr>
          <p:cNvPr id="4" name="Hexagon 3"/>
          <p:cNvSpPr/>
          <p:nvPr/>
        </p:nvSpPr>
        <p:spPr>
          <a:xfrm>
            <a:off x="10789920" y="914400"/>
            <a:ext cx="914400" cy="914400"/>
          </a:xfrm>
          <a:prstGeom prst="hexagon">
            <a:avLst/>
          </a:prstGeom>
          <a:solidFill>
            <a:srgbClr val="B40000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601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Programmer happiness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Readable code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Less complexity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More productivity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40000"/>
          </a:solidFill>
          <a:ln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How Ruby Works</a:t>
            </a:r>
          </a:p>
        </p:txBody>
      </p:sp>
      <p:sp>
        <p:nvSpPr>
          <p:cNvPr id="4" name="Hexagon 3"/>
          <p:cNvSpPr/>
          <p:nvPr/>
        </p:nvSpPr>
        <p:spPr>
          <a:xfrm>
            <a:off x="10789920" y="914400"/>
            <a:ext cx="914400" cy="914400"/>
          </a:xfrm>
          <a:prstGeom prst="hexagon">
            <a:avLst/>
          </a:prstGeom>
          <a:solidFill>
            <a:srgbClr val="B40000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601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Interpreted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Runs line by line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Garbage collection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Everything is an object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40000"/>
          </a:solidFill>
          <a:ln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Advantages</a:t>
            </a:r>
          </a:p>
        </p:txBody>
      </p:sp>
      <p:sp>
        <p:nvSpPr>
          <p:cNvPr id="4" name="Hexagon 3"/>
          <p:cNvSpPr/>
          <p:nvPr/>
        </p:nvSpPr>
        <p:spPr>
          <a:xfrm>
            <a:off x="10789920" y="914400"/>
            <a:ext cx="914400" cy="914400"/>
          </a:xfrm>
          <a:prstGeom prst="hexagon">
            <a:avLst/>
          </a:prstGeom>
          <a:solidFill>
            <a:srgbClr val="B40000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601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Fast development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Clean syntax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Strong community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Great for web apps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40000"/>
          </a:solidFill>
          <a:ln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Disadvantages</a:t>
            </a:r>
          </a:p>
        </p:txBody>
      </p:sp>
      <p:sp>
        <p:nvSpPr>
          <p:cNvPr id="4" name="Hexagon 3"/>
          <p:cNvSpPr/>
          <p:nvPr/>
        </p:nvSpPr>
        <p:spPr>
          <a:xfrm>
            <a:off x="10789920" y="914400"/>
            <a:ext cx="914400" cy="914400"/>
          </a:xfrm>
          <a:prstGeom prst="hexagon">
            <a:avLst/>
          </a:prstGeom>
          <a:solidFill>
            <a:srgbClr val="B40000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601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282828"/>
                </a:solidFill>
              </a:rPr>
              <a:t>• Slower than Java/C++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282828"/>
                </a:solidFill>
              </a:rPr>
              <a:t>• Less popular today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282828"/>
                </a:solidFill>
              </a:rPr>
              <a:t>• Smaller job market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40000"/>
          </a:solidFill>
          <a:ln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Why Use Ruby?</a:t>
            </a:r>
          </a:p>
        </p:txBody>
      </p:sp>
      <p:sp>
        <p:nvSpPr>
          <p:cNvPr id="4" name="Hexagon 3"/>
          <p:cNvSpPr/>
          <p:nvPr/>
        </p:nvSpPr>
        <p:spPr>
          <a:xfrm>
            <a:off x="10789920" y="914400"/>
            <a:ext cx="914400" cy="914400"/>
          </a:xfrm>
          <a:prstGeom prst="hexagon">
            <a:avLst/>
          </a:prstGeom>
          <a:solidFill>
            <a:srgbClr val="B40000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601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282828"/>
                </a:solidFill>
              </a:rPr>
              <a:t>• Rapid development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282828"/>
                </a:solidFill>
              </a:rPr>
              <a:t>• Easy maintenance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282828"/>
                </a:solidFill>
              </a:rPr>
              <a:t>• Startup friendly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40000"/>
          </a:solidFill>
          <a:ln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When to Use Ruby</a:t>
            </a:r>
          </a:p>
        </p:txBody>
      </p:sp>
      <p:sp>
        <p:nvSpPr>
          <p:cNvPr id="4" name="Hexagon 3"/>
          <p:cNvSpPr/>
          <p:nvPr/>
        </p:nvSpPr>
        <p:spPr>
          <a:xfrm>
            <a:off x="10789920" y="914400"/>
            <a:ext cx="914400" cy="914400"/>
          </a:xfrm>
          <a:prstGeom prst="hexagon">
            <a:avLst/>
          </a:prstGeom>
          <a:solidFill>
            <a:srgbClr val="B40000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601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Web apps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MVPs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Prototypes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Internal tools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40000"/>
          </a:solidFill>
          <a:ln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Code Example</a:t>
            </a:r>
          </a:p>
        </p:txBody>
      </p:sp>
      <p:sp>
        <p:nvSpPr>
          <p:cNvPr id="4" name="Hexagon 3"/>
          <p:cNvSpPr/>
          <p:nvPr/>
        </p:nvSpPr>
        <p:spPr>
          <a:xfrm>
            <a:off x="10789920" y="914400"/>
            <a:ext cx="914400" cy="914400"/>
          </a:xfrm>
          <a:prstGeom prst="hexagon">
            <a:avLst/>
          </a:prstGeom>
          <a:solidFill>
            <a:srgbClr val="B40000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601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282828"/>
                </a:solidFill>
              </a:rPr>
              <a:t>• name="Dino"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282828"/>
                </a:solidFill>
              </a:rPr>
              <a:t>• puts "Hello #{name}"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40000"/>
          </a:solidFill>
          <a:ln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Real Companies Using Ruby</a:t>
            </a:r>
          </a:p>
        </p:txBody>
      </p:sp>
      <p:sp>
        <p:nvSpPr>
          <p:cNvPr id="4" name="Hexagon 3"/>
          <p:cNvSpPr/>
          <p:nvPr/>
        </p:nvSpPr>
        <p:spPr>
          <a:xfrm>
            <a:off x="10789920" y="914400"/>
            <a:ext cx="914400" cy="914400"/>
          </a:xfrm>
          <a:prstGeom prst="hexagon">
            <a:avLst/>
          </a:prstGeom>
          <a:solidFill>
            <a:srgbClr val="B40000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601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Shopify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GitHub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Airbnb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Hulu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40000"/>
          </a:solidFill>
          <a:ln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Hexagon 3"/>
          <p:cNvSpPr/>
          <p:nvPr/>
        </p:nvSpPr>
        <p:spPr>
          <a:xfrm>
            <a:off x="10789920" y="914400"/>
            <a:ext cx="914400" cy="914400"/>
          </a:xfrm>
          <a:prstGeom prst="hexagon">
            <a:avLst/>
          </a:prstGeom>
          <a:solidFill>
            <a:srgbClr val="B40000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601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Readable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Productive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Still relevant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282828"/>
                </a:solidFill>
              </a:rPr>
              <a:t>• Great for web development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40000"/>
          </a:solidFill>
          <a:ln>
            <a:solidFill>
              <a:srgbClr val="B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0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4" name="Hexagon 3"/>
          <p:cNvSpPr/>
          <p:nvPr/>
        </p:nvSpPr>
        <p:spPr>
          <a:xfrm>
            <a:off x="10789920" y="914400"/>
            <a:ext cx="914400" cy="914400"/>
          </a:xfrm>
          <a:prstGeom prst="hexagon">
            <a:avLst/>
          </a:prstGeom>
          <a:solidFill>
            <a:srgbClr val="B40000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9601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282828"/>
                </a:solidFill>
              </a:rPr>
              <a:t>•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